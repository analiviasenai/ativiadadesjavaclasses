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41" r:id="rId2"/>
    <p:sldId id="367" r:id="rId3"/>
    <p:sldId id="368" r:id="rId4"/>
    <p:sldId id="371" r:id="rId5"/>
    <p:sldId id="372" r:id="rId6"/>
    <p:sldId id="373" r:id="rId7"/>
    <p:sldId id="397" r:id="rId8"/>
    <p:sldId id="398" r:id="rId9"/>
    <p:sldId id="396" r:id="rId10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3341" autoAdjust="0"/>
  </p:normalViewPr>
  <p:slideViewPr>
    <p:cSldViewPr>
      <p:cViewPr varScale="1">
        <p:scale>
          <a:sx n="73" d="100"/>
          <a:sy n="73" d="100"/>
        </p:scale>
        <p:origin x="120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4A04-21C9-49CB-8065-F35E7AEFBFBC}" type="datetimeFigureOut">
              <a:rPr lang="pt-BR" smtClean="0"/>
              <a:t>11/03/2025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CC81-3FE2-46B3-928E-DB46E27C17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74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defTabSz="457200">
              <a:buNone/>
            </a:pPr>
            <a:fld id="{5257B995-136A-4A15-87A5-26420C3C1021}" type="slidenum">
              <a:rPr lang="en-US" sz="1200" b="0" i="0">
                <a:latin typeface="Calibri"/>
                <a:ea typeface="+mn-ea"/>
                <a:cs typeface="+mn-cs"/>
              </a:rPr>
              <a:t>1</a:t>
            </a:fld>
            <a:endParaRPr lang="en-US" sz="1200" b="0" i="0"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pt-BR" smtClean="0"/>
              <a:t>11/03/2025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pt-BR" smtClean="0"/>
              <a:t>‹nº›</a:t>
            </a:fld>
            <a:endParaRPr lang="pt-BR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76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315404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189"/>
            <a:ext cx="5658484" cy="4210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/>
          <a:lstStyle/>
          <a:p>
            <a:pPr algn="l" defTabSz="457200">
              <a:spcBef>
                <a:spcPts val="0"/>
              </a:spcBef>
              <a:buNone/>
            </a:pPr>
            <a:br>
              <a:rPr lang="pt-BR" dirty="0">
                <a:solidFill>
                  <a:schemeClr val="tx1"/>
                </a:solidFill>
                <a:latin typeface="Century Gothic"/>
              </a:rPr>
            </a:br>
            <a:r>
              <a:rPr lang="pt-BR" sz="2800" b="1" dirty="0">
                <a:solidFill>
                  <a:srgbClr val="FF0000"/>
                </a:solidFill>
                <a:latin typeface="Century Gothic"/>
              </a:rPr>
              <a:t>JAVA – Orientação a Objetos</a:t>
            </a:r>
            <a:endParaRPr lang="pt-BR" sz="2800" b="1" i="0" dirty="0">
              <a:solidFill>
                <a:srgbClr val="FF0000"/>
              </a:solidFill>
              <a:latin typeface="Century Gothic"/>
            </a:endParaRPr>
          </a:p>
        </p:txBody>
      </p:sp>
      <p:sp>
        <p:nvSpPr>
          <p:cNvPr id="5" name="Retângulo 4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/>
          <a:p>
            <a:pPr marL="0" indent="0" algn="l">
              <a:buNone/>
            </a:pPr>
            <a:r>
              <a:rPr lang="pt-BR" b="0" i="0" dirty="0">
                <a:solidFill>
                  <a:schemeClr val="tx1"/>
                </a:solidFill>
              </a:rPr>
              <a:t>Prof. Me. Warner </a:t>
            </a:r>
            <a:r>
              <a:rPr lang="pt-BR" b="0" i="0" dirty="0" err="1">
                <a:solidFill>
                  <a:schemeClr val="tx1"/>
                </a:solidFill>
              </a:rPr>
              <a:t>Brezolin</a:t>
            </a:r>
            <a:endParaRPr lang="pt-BR" b="0" i="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pt-BR" dirty="0">
                <a:solidFill>
                  <a:schemeClr val="tx1"/>
                </a:solidFill>
              </a:rPr>
              <a:t>wbrezolin@gmail.com</a:t>
            </a:r>
            <a:endParaRPr lang="pt-BR" b="0" i="0" dirty="0">
              <a:solidFill>
                <a:schemeClr val="tx1"/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219" y="5736263"/>
            <a:ext cx="1707161" cy="692696"/>
          </a:xfrm>
          <a:prstGeom prst="rect">
            <a:avLst/>
          </a:prstGeom>
          <a:noFill/>
          <a:effectLst>
            <a:glow>
              <a:schemeClr val="accent1"/>
            </a:glow>
          </a:effectLst>
        </p:spPr>
      </p:pic>
    </p:spTree>
    <p:extLst>
      <p:ext uri="{BB962C8B-B14F-4D97-AF65-F5344CB8AC3E}">
        <p14:creationId xmlns:p14="http://schemas.microsoft.com/office/powerpoint/2010/main" val="302193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lang="pt-BR" altLang="pt-BR" kern="1200" spc="-130" dirty="0"/>
              <a:t>Herança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938" y="1793189"/>
            <a:ext cx="9598661" cy="2585323"/>
          </a:xfrm>
        </p:spPr>
        <p:txBody>
          <a:bodyPr wrap="square" lIns="0" tIns="0" rIns="0" bIns="0">
            <a:spAutoFit/>
          </a:bodyPr>
          <a:lstStyle/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sz="3200" kern="1200" dirty="0">
                <a:latin typeface="+mn-lt"/>
                <a:cs typeface="+mn-cs"/>
              </a:rPr>
              <a:t>Cria uma nova classe a partir de uma classe existente: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absorvendo os dados e comportamentos da classe existente; e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aprimorando-a com novas capacidades.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endParaRPr lang="pt-BR" altLang="pt-BR" sz="2400" kern="1200" dirty="0">
              <a:solidFill>
                <a:schemeClr val="tx1"/>
              </a:solidFill>
            </a:endParaRPr>
          </a:p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sz="3200" kern="1200" dirty="0">
                <a:latin typeface="+mn-lt"/>
                <a:cs typeface="+mn-cs"/>
              </a:rPr>
              <a:t>Adota um relacionamento hierárquico entre classes</a:t>
            </a:r>
          </a:p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sz="3200" kern="1200" dirty="0">
                <a:latin typeface="+mn-lt"/>
                <a:cs typeface="+mn-cs"/>
              </a:rPr>
              <a:t>Permite melhor organização e reuso de código</a:t>
            </a:r>
          </a:p>
        </p:txBody>
      </p:sp>
    </p:spTree>
    <p:extLst>
      <p:ext uri="{BB962C8B-B14F-4D97-AF65-F5344CB8AC3E}">
        <p14:creationId xmlns:p14="http://schemas.microsoft.com/office/powerpoint/2010/main" val="3334555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AutoShape 2"/>
          <p:cNvSpPr>
            <a:spLocks noGrp="1" noChangeArrowheads="1"/>
          </p:cNvSpPr>
          <p:nvPr>
            <p:ph type="title"/>
          </p:nvPr>
        </p:nvSpPr>
        <p:spPr>
          <a:xfrm>
            <a:off x="916939" y="609676"/>
            <a:ext cx="8684261" cy="690574"/>
          </a:xfr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lang="pt-BR" altLang="pt-BR" kern="1200" spc="-130" dirty="0"/>
              <a:t>Tipos de classes quanto a Herança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938" y="1793189"/>
            <a:ext cx="9522461" cy="3693319"/>
          </a:xfrm>
        </p:spPr>
        <p:txBody>
          <a:bodyPr wrap="square" lIns="0" tIns="0" rIns="0" bIns="0">
            <a:spAutoFit/>
          </a:bodyPr>
          <a:lstStyle/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sz="3200" kern="1200" dirty="0">
                <a:latin typeface="+mn-lt"/>
                <a:cs typeface="+mn-cs"/>
              </a:rPr>
              <a:t>Subclasse ou classe derivada: 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criada a partir de outra classe (classe mãe)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herda características da classe mãe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também possui características próprias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endParaRPr lang="pt-BR" altLang="pt-BR" sz="2400" kern="1200" dirty="0">
              <a:solidFill>
                <a:schemeClr val="tx1"/>
              </a:solidFill>
            </a:endParaRPr>
          </a:p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sz="3200" kern="1200" dirty="0">
                <a:latin typeface="+mn-lt"/>
                <a:cs typeface="+mn-cs"/>
              </a:rPr>
              <a:t>Superclasse ou classe base: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concede características a classe derivada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endParaRPr lang="pt-BR" altLang="pt-BR" sz="2400" kern="1200" dirty="0">
              <a:solidFill>
                <a:schemeClr val="tx1"/>
              </a:solidFill>
            </a:endParaRPr>
          </a:p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sz="3200" kern="1200" dirty="0">
                <a:latin typeface="+mn-lt"/>
                <a:cs typeface="+mn-cs"/>
              </a:rPr>
              <a:t>Relação: Subclasse estende a superclasse</a:t>
            </a:r>
          </a:p>
        </p:txBody>
      </p:sp>
    </p:spTree>
    <p:extLst>
      <p:ext uri="{BB962C8B-B14F-4D97-AF65-F5344CB8AC3E}">
        <p14:creationId xmlns:p14="http://schemas.microsoft.com/office/powerpoint/2010/main" val="1372418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AutoShape 2"/>
          <p:cNvSpPr>
            <a:spLocks noGrp="1" noChangeArrowheads="1"/>
          </p:cNvSpPr>
          <p:nvPr>
            <p:ph type="title"/>
          </p:nvPr>
        </p:nvSpPr>
        <p:spPr>
          <a:xfrm>
            <a:off x="916939" y="609676"/>
            <a:ext cx="5636261" cy="697230"/>
          </a:xfr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lang="pt-BR" altLang="pt-BR" kern="1200" spc="-130" dirty="0"/>
              <a:t>Herança - Alunos</a:t>
            </a:r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4799807" y="2636838"/>
            <a:ext cx="2159000" cy="11525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altLang="pt-BR" sz="2800"/>
              <a:t>Aluno</a:t>
            </a:r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2711450" y="4581525"/>
            <a:ext cx="2808288" cy="863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altLang="pt-BR" sz="2400"/>
              <a:t>AlunoGraduacao</a:t>
            </a:r>
          </a:p>
        </p:txBody>
      </p:sp>
      <p:sp>
        <p:nvSpPr>
          <p:cNvPr id="103431" name="Line 7"/>
          <p:cNvSpPr>
            <a:spLocks noChangeShapeType="1"/>
          </p:cNvSpPr>
          <p:nvPr/>
        </p:nvSpPr>
        <p:spPr bwMode="auto">
          <a:xfrm flipH="1">
            <a:off x="4222750" y="3789363"/>
            <a:ext cx="1296988" cy="792162"/>
          </a:xfrm>
          <a:prstGeom prst="line">
            <a:avLst/>
          </a:prstGeom>
          <a:ln w="28575"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6238876" y="3789363"/>
            <a:ext cx="1368425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438" name="Rectangle 14"/>
          <p:cNvSpPr>
            <a:spLocks noChangeArrowheads="1"/>
          </p:cNvSpPr>
          <p:nvPr/>
        </p:nvSpPr>
        <p:spPr bwMode="auto">
          <a:xfrm>
            <a:off x="6311900" y="4581525"/>
            <a:ext cx="3024188" cy="863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altLang="pt-BR" sz="2400"/>
              <a:t>AlunoPosGraduacao</a:t>
            </a:r>
          </a:p>
        </p:txBody>
      </p:sp>
    </p:spTree>
    <p:extLst>
      <p:ext uri="{BB962C8B-B14F-4D97-AF65-F5344CB8AC3E}">
        <p14:creationId xmlns:p14="http://schemas.microsoft.com/office/powerpoint/2010/main" val="942955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AutoShape 2"/>
          <p:cNvSpPr>
            <a:spLocks noGrp="1" noChangeArrowheads="1"/>
          </p:cNvSpPr>
          <p:nvPr>
            <p:ph type="title"/>
          </p:nvPr>
        </p:nvSpPr>
        <p:spPr>
          <a:xfrm>
            <a:off x="916939" y="609676"/>
            <a:ext cx="7998461" cy="697230"/>
          </a:xfrm>
        </p:spPr>
        <p:txBody>
          <a:bodyPr vert="horz" wrap="square" lIns="0" tIns="13335" rIns="0" bIns="0" rtlCol="0">
            <a:spAutoFit/>
          </a:bodyPr>
          <a:lstStyle/>
          <a:p>
            <a:pPr marL="12700" algn="l" rtl="0">
              <a:spcBef>
                <a:spcPts val="105"/>
              </a:spcBef>
            </a:pPr>
            <a:r>
              <a:rPr lang="pt-BR" altLang="pt-BR" kern="1200" spc="-130" dirty="0"/>
              <a:t>Herança – Conta Bancária</a:t>
            </a: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4741965" y="2636838"/>
            <a:ext cx="2159000" cy="11525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altLang="pt-BR" sz="2400"/>
              <a:t>ContaBancaria</a:t>
            </a:r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2711450" y="4581525"/>
            <a:ext cx="2808288" cy="863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altLang="pt-BR" sz="2400"/>
              <a:t>ContaCorrente</a:t>
            </a:r>
          </a:p>
        </p:txBody>
      </p:sp>
      <p:sp>
        <p:nvSpPr>
          <p:cNvPr id="104453" name="Line 5"/>
          <p:cNvSpPr>
            <a:spLocks noChangeShapeType="1"/>
          </p:cNvSpPr>
          <p:nvPr/>
        </p:nvSpPr>
        <p:spPr bwMode="auto">
          <a:xfrm flipH="1">
            <a:off x="4222750" y="3789363"/>
            <a:ext cx="1296988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4454" name="Line 6"/>
          <p:cNvSpPr>
            <a:spLocks noChangeShapeType="1"/>
          </p:cNvSpPr>
          <p:nvPr/>
        </p:nvSpPr>
        <p:spPr bwMode="auto">
          <a:xfrm>
            <a:off x="6238876" y="3789363"/>
            <a:ext cx="1368425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4455" name="Rectangle 7"/>
          <p:cNvSpPr>
            <a:spLocks noChangeArrowheads="1"/>
          </p:cNvSpPr>
          <p:nvPr/>
        </p:nvSpPr>
        <p:spPr bwMode="auto">
          <a:xfrm>
            <a:off x="6311900" y="4581525"/>
            <a:ext cx="3024188" cy="863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pt-BR" altLang="pt-BR" sz="2400"/>
              <a:t>ContaPoupança</a:t>
            </a:r>
          </a:p>
        </p:txBody>
      </p:sp>
    </p:spTree>
    <p:extLst>
      <p:ext uri="{BB962C8B-B14F-4D97-AF65-F5344CB8AC3E}">
        <p14:creationId xmlns:p14="http://schemas.microsoft.com/office/powerpoint/2010/main" val="1758060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AutoShape 2"/>
          <p:cNvSpPr>
            <a:spLocks noGrp="1" noChangeArrowheads="1"/>
          </p:cNvSpPr>
          <p:nvPr>
            <p:ph type="title"/>
          </p:nvPr>
        </p:nvSpPr>
        <p:spPr>
          <a:xfrm>
            <a:off x="916939" y="609676"/>
            <a:ext cx="8989061" cy="697230"/>
          </a:xfrm>
        </p:spPr>
        <p:txBody>
          <a:bodyPr/>
          <a:lstStyle/>
          <a:p>
            <a:r>
              <a:rPr lang="pt-BR" altLang="pt-BR" dirty="0"/>
              <a:t>Herança – Hierarquia de classes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938" y="1793189"/>
            <a:ext cx="10055861" cy="2954655"/>
          </a:xfrm>
        </p:spPr>
        <p:txBody>
          <a:bodyPr wrap="square" lIns="0" tIns="0" rIns="0" bIns="0">
            <a:spAutoFit/>
          </a:bodyPr>
          <a:lstStyle/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sz="3200" kern="1200" dirty="0">
                <a:latin typeface="+mn-lt"/>
                <a:cs typeface="+mn-cs"/>
              </a:rPr>
              <a:t>A </a:t>
            </a:r>
            <a:r>
              <a:rPr lang="pt-BR" altLang="pt-BR" sz="3200" kern="1200" noProof="1">
                <a:latin typeface="+mn-lt"/>
                <a:cs typeface="+mn-cs"/>
              </a:rPr>
              <a:t>super</a:t>
            </a:r>
            <a:r>
              <a:rPr lang="pt-BR" altLang="pt-BR" sz="3200" kern="1200" dirty="0">
                <a:latin typeface="+mn-lt"/>
                <a:cs typeface="+mn-cs"/>
              </a:rPr>
              <a:t>classe representa um conjunto maior de objetos do que as subclasses.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Superclasse Veículo: representa carros, caminhões, barcos, bicicletas…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Subclasse Carro: representa um subconjunto específico de veículos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endParaRPr lang="pt-BR" altLang="pt-BR" sz="2400" kern="1200" dirty="0">
              <a:solidFill>
                <a:schemeClr val="tx1"/>
              </a:solidFill>
            </a:endParaRPr>
          </a:p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sz="3200" kern="1200" dirty="0">
                <a:latin typeface="+mn-lt"/>
                <a:cs typeface="+mn-cs"/>
              </a:rPr>
              <a:t>Relação de hierarquia: “é um”</a:t>
            </a:r>
          </a:p>
          <a:p>
            <a:pPr marL="914400" lvl="1" indent="-457200" algn="l" rtl="0">
              <a:buFont typeface="Courier New" panose="02070309020205020404" pitchFamily="49" charset="0"/>
              <a:buChar char="o"/>
            </a:pPr>
            <a:r>
              <a:rPr lang="pt-BR" altLang="pt-BR" sz="2400" kern="1200" dirty="0">
                <a:solidFill>
                  <a:schemeClr val="tx1"/>
                </a:solidFill>
              </a:rPr>
              <a:t>Carro “é um” Veículo</a:t>
            </a:r>
          </a:p>
        </p:txBody>
      </p:sp>
    </p:spTree>
    <p:extLst>
      <p:ext uri="{BB962C8B-B14F-4D97-AF65-F5344CB8AC3E}">
        <p14:creationId xmlns:p14="http://schemas.microsoft.com/office/powerpoint/2010/main" val="194476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AutoShape 2"/>
          <p:cNvSpPr>
            <a:spLocks noGrp="1" noChangeArrowheads="1"/>
          </p:cNvSpPr>
          <p:nvPr>
            <p:ph type="title"/>
          </p:nvPr>
        </p:nvSpPr>
        <p:spPr>
          <a:xfrm>
            <a:off x="916939" y="609676"/>
            <a:ext cx="8989061" cy="697230"/>
          </a:xfrm>
        </p:spPr>
        <p:txBody>
          <a:bodyPr/>
          <a:lstStyle/>
          <a:p>
            <a:r>
              <a:rPr lang="pt-BR" altLang="pt-BR" dirty="0"/>
              <a:t>Herança – Hierarquia de classes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939" y="1600200"/>
            <a:ext cx="10436861" cy="3508653"/>
          </a:xfrm>
        </p:spPr>
        <p:txBody>
          <a:bodyPr wrap="square" lIns="0" tIns="0" rIns="0" bIns="0">
            <a:spAutoFit/>
          </a:bodyPr>
          <a:lstStyle/>
          <a:p>
            <a:pPr algn="l" rtl="0"/>
            <a:r>
              <a:rPr lang="pt-BR" altLang="pt-BR" sz="3200" kern="1200" dirty="0">
                <a:latin typeface="+mn-lt"/>
                <a:cs typeface="+mn-cs"/>
              </a:rPr>
              <a:t>Exemplo de Herança em Java</a:t>
            </a:r>
          </a:p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kern="1200" dirty="0">
                <a:latin typeface="+mn-lt"/>
                <a:cs typeface="+mn-cs"/>
              </a:rPr>
              <a:t>Imagine um sistema onde seja necessário criar classes com dados parecidos entre grupos de funcionários.</a:t>
            </a:r>
          </a:p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kern="1200" dirty="0">
                <a:latin typeface="+mn-lt"/>
                <a:cs typeface="+mn-cs"/>
              </a:rPr>
              <a:t>Ambas devem armazenar dados semelhantes</a:t>
            </a:r>
          </a:p>
          <a:p>
            <a:pPr marL="457200" indent="-457200" algn="l" rtl="0">
              <a:buFont typeface="Courier New" panose="02070309020205020404" pitchFamily="49" charset="0"/>
              <a:buChar char="o"/>
            </a:pPr>
            <a:r>
              <a:rPr lang="pt-BR" altLang="pt-BR" kern="1200" dirty="0">
                <a:latin typeface="+mn-lt"/>
                <a:cs typeface="+mn-cs"/>
              </a:rPr>
              <a:t>Para evitar a repetição de informações nas classes, é possível criar uma classe funcionário contendo os dados genéricos, especificando os detalhes de cada grupo de funcionários em suas respectivas </a:t>
            </a:r>
            <a:r>
              <a:rPr lang="pt-BR" altLang="pt-BR" kern="1200" dirty="0" err="1">
                <a:latin typeface="+mn-lt"/>
                <a:cs typeface="+mn-cs"/>
              </a:rPr>
              <a:t>sub-classes</a:t>
            </a:r>
            <a:r>
              <a:rPr lang="pt-BR" altLang="pt-BR" kern="1200" dirty="0">
                <a:latin typeface="+mn-lt"/>
                <a:cs typeface="+mn-cs"/>
              </a:rPr>
              <a:t>.</a:t>
            </a:r>
            <a:endParaRPr lang="pt-BR" altLang="pt-BR" sz="2000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26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AutoShape 2"/>
          <p:cNvSpPr>
            <a:spLocks noGrp="1" noChangeArrowheads="1"/>
          </p:cNvSpPr>
          <p:nvPr>
            <p:ph type="title"/>
          </p:nvPr>
        </p:nvSpPr>
        <p:spPr>
          <a:xfrm>
            <a:off x="916939" y="609676"/>
            <a:ext cx="8989061" cy="697230"/>
          </a:xfrm>
        </p:spPr>
        <p:txBody>
          <a:bodyPr/>
          <a:lstStyle/>
          <a:p>
            <a:r>
              <a:rPr lang="pt-BR" altLang="pt-BR" dirty="0"/>
              <a:t>Herança – Hierarquia de classes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24000"/>
            <a:ext cx="9963150" cy="519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0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1981200" y="2667000"/>
            <a:ext cx="8249157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05"/>
              </a:spcBef>
            </a:pPr>
            <a:r>
              <a:rPr lang="pt-BR" sz="7200" kern="0"/>
              <a:t>Exercícios</a:t>
            </a:r>
            <a:endParaRPr lang="pt-BR" sz="7200" kern="0" dirty="0"/>
          </a:p>
        </p:txBody>
      </p:sp>
    </p:spTree>
    <p:extLst>
      <p:ext uri="{BB962C8B-B14F-4D97-AF65-F5344CB8AC3E}">
        <p14:creationId xmlns:p14="http://schemas.microsoft.com/office/powerpoint/2010/main" val="190985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3227</TotalTime>
  <Words>240</Words>
  <Application>Microsoft Office PowerPoint</Application>
  <PresentationFormat>Widescreen</PresentationFormat>
  <Paragraphs>43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Calibri</vt:lpstr>
      <vt:lpstr>Carlito</vt:lpstr>
      <vt:lpstr>Century Gothic</vt:lpstr>
      <vt:lpstr>Courier New</vt:lpstr>
      <vt:lpstr>Trebuchet MS</vt:lpstr>
      <vt:lpstr>Office Theme</vt:lpstr>
      <vt:lpstr> JAVA – Orientação a Objetos</vt:lpstr>
      <vt:lpstr>Herança</vt:lpstr>
      <vt:lpstr>Tipos de classes quanto a Herança</vt:lpstr>
      <vt:lpstr>Herança - Alunos</vt:lpstr>
      <vt:lpstr>Herança – Conta Bancária</vt:lpstr>
      <vt:lpstr>Herança – Hierarquia de classes</vt:lpstr>
      <vt:lpstr>Herança – Hierarquia de classes</vt:lpstr>
      <vt:lpstr>Herança – Hierarquia de classes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BUSTAMANTE FERREIRA LEONOR</dc:creator>
  <cp:lastModifiedBy>Warner Brezolin</cp:lastModifiedBy>
  <cp:revision>480</cp:revision>
  <dcterms:created xsi:type="dcterms:W3CDTF">2020-02-06T23:16:28Z</dcterms:created>
  <dcterms:modified xsi:type="dcterms:W3CDTF">2025-03-11T23:35:24Z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2019-03-22T00:00:00Z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2020-02-06T00:00:00Z</vt:filetime>
  </property>
</Properties>
</file>