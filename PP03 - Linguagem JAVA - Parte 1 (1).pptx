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341" r:id="rId2"/>
    <p:sldId id="359" r:id="rId3"/>
    <p:sldId id="364" r:id="rId4"/>
    <p:sldId id="365" r:id="rId5"/>
    <p:sldId id="371" r:id="rId6"/>
    <p:sldId id="373" r:id="rId7"/>
    <p:sldId id="374" r:id="rId8"/>
    <p:sldId id="377" r:id="rId9"/>
    <p:sldId id="381" r:id="rId10"/>
    <p:sldId id="385" r:id="rId11"/>
    <p:sldId id="387" r:id="rId12"/>
    <p:sldId id="389" r:id="rId13"/>
    <p:sldId id="390" r:id="rId14"/>
    <p:sldId id="453" r:id="rId15"/>
    <p:sldId id="392" r:id="rId16"/>
    <p:sldId id="394" r:id="rId17"/>
    <p:sldId id="395" r:id="rId18"/>
    <p:sldId id="397" r:id="rId19"/>
    <p:sldId id="398" r:id="rId20"/>
    <p:sldId id="399" r:id="rId21"/>
    <p:sldId id="455" r:id="rId22"/>
    <p:sldId id="459" r:id="rId23"/>
    <p:sldId id="460" r:id="rId24"/>
    <p:sldId id="461" r:id="rId25"/>
    <p:sldId id="464" r:id="rId26"/>
    <p:sldId id="466" r:id="rId27"/>
    <p:sldId id="467" r:id="rId28"/>
    <p:sldId id="472" r:id="rId29"/>
    <p:sldId id="477" r:id="rId30"/>
    <p:sldId id="479" r:id="rId31"/>
    <p:sldId id="484" r:id="rId32"/>
    <p:sldId id="485" r:id="rId33"/>
    <p:sldId id="454" r:id="rId34"/>
    <p:sldId id="487" r:id="rId35"/>
    <p:sldId id="488" r:id="rId36"/>
    <p:sldId id="486" r:id="rId37"/>
  </p:sldIdLst>
  <p:sldSz cx="12192000" cy="6858000"/>
  <p:notesSz cx="12192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75" autoAdjust="0"/>
    <p:restoredTop sz="93341" autoAdjust="0"/>
  </p:normalViewPr>
  <p:slideViewPr>
    <p:cSldViewPr>
      <p:cViewPr varScale="1">
        <p:scale>
          <a:sx n="81" d="100"/>
          <a:sy n="81" d="100"/>
        </p:scale>
        <p:origin x="1109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RNER BREZOLIN" userId="5965b03a-a112-4328-8103-b970c0ab26ec" providerId="ADAL" clId="{2CB48465-40B5-421A-ADCF-5807841ADBF6}"/>
    <pc:docChg chg="addSld modSld">
      <pc:chgData name="WARNER BREZOLIN" userId="5965b03a-a112-4328-8103-b970c0ab26ec" providerId="ADAL" clId="{2CB48465-40B5-421A-ADCF-5807841ADBF6}" dt="2022-03-03T15:22:30.909" v="76" actId="20577"/>
      <pc:docMkLst>
        <pc:docMk/>
      </pc:docMkLst>
      <pc:sldChg chg="modSp mod">
        <pc:chgData name="WARNER BREZOLIN" userId="5965b03a-a112-4328-8103-b970c0ab26ec" providerId="ADAL" clId="{2CB48465-40B5-421A-ADCF-5807841ADBF6}" dt="2022-03-03T15:22:30.909" v="76" actId="20577"/>
        <pc:sldMkLst>
          <pc:docMk/>
          <pc:sldMk cId="2685595186" sldId="454"/>
        </pc:sldMkLst>
        <pc:spChg chg="mod">
          <ac:chgData name="WARNER BREZOLIN" userId="5965b03a-a112-4328-8103-b970c0ab26ec" providerId="ADAL" clId="{2CB48465-40B5-421A-ADCF-5807841ADBF6}" dt="2022-03-03T15:22:30.909" v="76" actId="20577"/>
          <ac:spMkLst>
            <pc:docMk/>
            <pc:sldMk cId="2685595186" sldId="454"/>
            <ac:spMk id="7" creationId="{00000000-0000-0000-0000-000000000000}"/>
          </ac:spMkLst>
        </pc:spChg>
      </pc:sldChg>
      <pc:sldChg chg="add">
        <pc:chgData name="WARNER BREZOLIN" userId="5965b03a-a112-4328-8103-b970c0ab26ec" providerId="ADAL" clId="{2CB48465-40B5-421A-ADCF-5807841ADBF6}" dt="2022-03-03T15:18:08.399" v="0"/>
        <pc:sldMkLst>
          <pc:docMk/>
          <pc:sldMk cId="1884792198" sldId="486"/>
        </pc:sldMkLst>
      </pc:sldChg>
      <pc:sldChg chg="addSp modSp add mod">
        <pc:chgData name="WARNER BREZOLIN" userId="5965b03a-a112-4328-8103-b970c0ab26ec" providerId="ADAL" clId="{2CB48465-40B5-421A-ADCF-5807841ADBF6}" dt="2022-03-03T15:21:48.506" v="55" actId="1076"/>
        <pc:sldMkLst>
          <pc:docMk/>
          <pc:sldMk cId="720021758" sldId="487"/>
        </pc:sldMkLst>
        <pc:spChg chg="add mod">
          <ac:chgData name="WARNER BREZOLIN" userId="5965b03a-a112-4328-8103-b970c0ab26ec" providerId="ADAL" clId="{2CB48465-40B5-421A-ADCF-5807841ADBF6}" dt="2022-03-03T15:21:48.506" v="55" actId="1076"/>
          <ac:spMkLst>
            <pc:docMk/>
            <pc:sldMk cId="720021758" sldId="487"/>
            <ac:spMk id="3" creationId="{CEE09F7F-63E1-4958-8C69-8A690A68DCAB}"/>
          </ac:spMkLst>
        </pc:spChg>
        <pc:spChg chg="mod">
          <ac:chgData name="WARNER BREZOLIN" userId="5965b03a-a112-4328-8103-b970c0ab26ec" providerId="ADAL" clId="{2CB48465-40B5-421A-ADCF-5807841ADBF6}" dt="2022-03-03T15:20:44.737" v="30" actId="2711"/>
          <ac:spMkLst>
            <pc:docMk/>
            <pc:sldMk cId="720021758" sldId="487"/>
            <ac:spMk id="7" creationId="{00000000-0000-0000-0000-000000000000}"/>
          </ac:spMkLst>
        </pc:spChg>
      </pc:sldChg>
      <pc:sldChg chg="addSp modSp add mod">
        <pc:chgData name="WARNER BREZOLIN" userId="5965b03a-a112-4328-8103-b970c0ab26ec" providerId="ADAL" clId="{2CB48465-40B5-421A-ADCF-5807841ADBF6}" dt="2022-03-03T15:22:05.242" v="68" actId="1076"/>
        <pc:sldMkLst>
          <pc:docMk/>
          <pc:sldMk cId="616336089" sldId="488"/>
        </pc:sldMkLst>
        <pc:spChg chg="add mod">
          <ac:chgData name="WARNER BREZOLIN" userId="5965b03a-a112-4328-8103-b970c0ab26ec" providerId="ADAL" clId="{2CB48465-40B5-421A-ADCF-5807841ADBF6}" dt="2022-03-03T15:21:58.358" v="67" actId="20577"/>
          <ac:spMkLst>
            <pc:docMk/>
            <pc:sldMk cId="616336089" sldId="488"/>
            <ac:spMk id="3" creationId="{2E3F06EA-B325-4D9D-BE58-1EF4BB3F3948}"/>
          </ac:spMkLst>
        </pc:spChg>
        <pc:spChg chg="mod">
          <ac:chgData name="WARNER BREZOLIN" userId="5965b03a-a112-4328-8103-b970c0ab26ec" providerId="ADAL" clId="{2CB48465-40B5-421A-ADCF-5807841ADBF6}" dt="2022-03-03T15:22:05.242" v="68" actId="1076"/>
          <ac:spMkLst>
            <pc:docMk/>
            <pc:sldMk cId="616336089" sldId="488"/>
            <ac:spMk id="7" creationId="{00000000-0000-0000-0000-000000000000}"/>
          </ac:spMkLst>
        </pc:spChg>
      </pc:sldChg>
    </pc:docChg>
  </pc:docChgLst>
  <pc:docChgLst>
    <pc:chgData name="WARNER BREZOLIN" userId="5965b03a-a112-4328-8103-b970c0ab26ec" providerId="ADAL" clId="{91D94BD4-86D1-492D-B124-49528891372F}"/>
    <pc:docChg chg="modSld">
      <pc:chgData name="WARNER BREZOLIN" userId="5965b03a-a112-4328-8103-b970c0ab26ec" providerId="ADAL" clId="{91D94BD4-86D1-492D-B124-49528891372F}" dt="2023-03-06T17:51:52.924" v="1" actId="20577"/>
      <pc:docMkLst>
        <pc:docMk/>
      </pc:docMkLst>
      <pc:sldChg chg="modSp mod">
        <pc:chgData name="WARNER BREZOLIN" userId="5965b03a-a112-4328-8103-b970c0ab26ec" providerId="ADAL" clId="{91D94BD4-86D1-492D-B124-49528891372F}" dt="2023-03-06T17:51:52.924" v="1" actId="20577"/>
        <pc:sldMkLst>
          <pc:docMk/>
          <pc:sldMk cId="720021758" sldId="487"/>
        </pc:sldMkLst>
        <pc:spChg chg="mod">
          <ac:chgData name="WARNER BREZOLIN" userId="5965b03a-a112-4328-8103-b970c0ab26ec" providerId="ADAL" clId="{91D94BD4-86D1-492D-B124-49528891372F}" dt="2023-03-06T17:51:52.924" v="1" actId="20577"/>
          <ac:spMkLst>
            <pc:docMk/>
            <pc:sldMk cId="720021758" sldId="487"/>
            <ac:spMk id="7" creationId="{00000000-0000-0000-0000-000000000000}"/>
          </ac:spMkLst>
        </pc:spChg>
      </pc:sldChg>
    </pc:docChg>
  </pc:docChgLst>
  <pc:docChgLst>
    <pc:chgData name="WARNER BREZOLIN" userId="5965b03a-a112-4328-8103-b970c0ab26ec" providerId="ADAL" clId="{78DDB569-62B7-475A-8720-AC0E081874F6}"/>
    <pc:docChg chg="modSld">
      <pc:chgData name="WARNER BREZOLIN" userId="5965b03a-a112-4328-8103-b970c0ab26ec" providerId="ADAL" clId="{78DDB569-62B7-475A-8720-AC0E081874F6}" dt="2024-02-19T23:29:29.129" v="30" actId="20577"/>
      <pc:docMkLst>
        <pc:docMk/>
      </pc:docMkLst>
      <pc:sldChg chg="modSp mod">
        <pc:chgData name="WARNER BREZOLIN" userId="5965b03a-a112-4328-8103-b970c0ab26ec" providerId="ADAL" clId="{78DDB569-62B7-475A-8720-AC0E081874F6}" dt="2024-02-19T23:29:29.129" v="30" actId="20577"/>
        <pc:sldMkLst>
          <pc:docMk/>
          <pc:sldMk cId="3021931668" sldId="341"/>
        </pc:sldMkLst>
        <pc:spChg chg="mod">
          <ac:chgData name="WARNER BREZOLIN" userId="5965b03a-a112-4328-8103-b970c0ab26ec" providerId="ADAL" clId="{78DDB569-62B7-475A-8720-AC0E081874F6}" dt="2024-02-19T23:29:29.129" v="30" actId="20577"/>
          <ac:spMkLst>
            <pc:docMk/>
            <pc:sldMk cId="3021931668" sldId="34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E4A04-21C9-49CB-8065-F35E7AEFBFBC}" type="datetimeFigureOut">
              <a:rPr lang="pt-BR" smtClean="0"/>
              <a:t>19/02/2024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6CC81-3FE2-46B3-928E-DB46E27C17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7403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defTabSz="457200">
              <a:buNone/>
            </a:pPr>
            <a:fld id="{5257B995-136A-4A15-87A5-26420C3C1021}" type="slidenum">
              <a:rPr lang="en-US" sz="1200" b="0" i="0">
                <a:latin typeface="Calibri"/>
                <a:ea typeface="+mn-ea"/>
                <a:cs typeface="+mn-cs"/>
              </a:rPr>
              <a:t>1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1965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pt-BR" smtClean="0"/>
              <a:t>19/02/2024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pt-BR" smtClean="0"/>
              <a:t>‹nº›</a:t>
            </a:fld>
            <a:endParaRPr lang="pt-BR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0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762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315404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3189"/>
            <a:ext cx="5658484" cy="4210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/>
          <a:lstStyle/>
          <a:p>
            <a:pPr algn="l" defTabSz="457200">
              <a:spcBef>
                <a:spcPts val="0"/>
              </a:spcBef>
              <a:buNone/>
            </a:pPr>
            <a:r>
              <a:rPr lang="pt-BR" sz="4800">
                <a:solidFill>
                  <a:schemeClr val="tx1"/>
                </a:solidFill>
                <a:latin typeface="Century Gothic"/>
              </a:rPr>
              <a:t>PROGRAMAÇÃO ORIENTADA A OBJETOS</a:t>
            </a:r>
            <a:br>
              <a:rPr lang="pt-BR" dirty="0">
                <a:solidFill>
                  <a:schemeClr val="tx1"/>
                </a:solidFill>
                <a:latin typeface="Century Gothic"/>
              </a:rPr>
            </a:br>
            <a:r>
              <a:rPr lang="pt-BR" sz="2800" b="1" dirty="0">
                <a:solidFill>
                  <a:srgbClr val="FF0000"/>
                </a:solidFill>
                <a:latin typeface="Century Gothic"/>
              </a:rPr>
              <a:t>JAVA</a:t>
            </a:r>
            <a:endParaRPr lang="pt-BR" sz="2800" b="1" i="0" dirty="0">
              <a:solidFill>
                <a:srgbClr val="FF0000"/>
              </a:solidFill>
              <a:latin typeface="Century Gothic"/>
            </a:endParaRPr>
          </a:p>
        </p:txBody>
      </p:sp>
      <p:sp>
        <p:nvSpPr>
          <p:cNvPr id="5" name="Retângulo 4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/>
          <a:p>
            <a:pPr marL="0" indent="0" algn="l">
              <a:buNone/>
            </a:pPr>
            <a:r>
              <a:rPr lang="pt-BR" b="0" i="0" dirty="0">
                <a:solidFill>
                  <a:schemeClr val="tx1"/>
                </a:solidFill>
              </a:rPr>
              <a:t>Prof. Me. Warner </a:t>
            </a:r>
            <a:r>
              <a:rPr lang="pt-BR" b="0" i="0" dirty="0" err="1">
                <a:solidFill>
                  <a:schemeClr val="tx1"/>
                </a:solidFill>
              </a:rPr>
              <a:t>Brezolin</a:t>
            </a:r>
            <a:endParaRPr lang="pt-BR" b="0" i="0" dirty="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pt-BR" dirty="0">
                <a:solidFill>
                  <a:schemeClr val="tx1"/>
                </a:solidFill>
              </a:rPr>
              <a:t>wbrezolin@gmail.com</a:t>
            </a:r>
            <a:endParaRPr lang="pt-BR" b="0" i="0" dirty="0">
              <a:solidFill>
                <a:schemeClr val="tx1"/>
              </a:solidFill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3219" y="5736263"/>
            <a:ext cx="1707161" cy="692696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</p:pic>
    </p:spTree>
    <p:extLst>
      <p:ext uri="{BB962C8B-B14F-4D97-AF65-F5344CB8AC3E}">
        <p14:creationId xmlns:p14="http://schemas.microsoft.com/office/powerpoint/2010/main" val="3021931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143000" y="2133600"/>
            <a:ext cx="10058400" cy="2954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pt-BR"/>
            </a:defPPr>
            <a:lvl1pPr marL="457200" indent="-457200">
              <a:buFont typeface="Courier New" panose="02070309020205020404" pitchFamily="49" charset="0"/>
              <a:buChar char="o"/>
              <a:defRPr sz="3200" b="0" i="0"/>
            </a:lvl1pPr>
            <a:lvl2pPr marL="914400" lvl="1" indent="-457200">
              <a:buFont typeface="Courier New" panose="02070309020205020404" pitchFamily="49" charset="0"/>
              <a:buChar char="o"/>
              <a:defRPr sz="2400"/>
            </a:lvl2pPr>
          </a:lstStyle>
          <a:p>
            <a:r>
              <a:rPr dirty="0"/>
              <a:t>Conhecer os tipos de dados,  </a:t>
            </a:r>
            <a:r>
              <a:rPr dirty="0" err="1"/>
              <a:t>constantes</a:t>
            </a:r>
            <a:r>
              <a:rPr dirty="0"/>
              <a:t> e</a:t>
            </a:r>
            <a:r>
              <a:rPr lang="pt-BR"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declarar</a:t>
            </a:r>
            <a:r>
              <a:rPr lang="pt-BR" dirty="0"/>
              <a:t> </a:t>
            </a:r>
            <a:r>
              <a:rPr dirty="0" err="1"/>
              <a:t>variáveis</a:t>
            </a:r>
            <a:endParaRPr lang="pt-BR" dirty="0"/>
          </a:p>
          <a:p>
            <a:endParaRPr dirty="0"/>
          </a:p>
          <a:p>
            <a:r>
              <a:rPr dirty="0"/>
              <a:t>Conhecer os </a:t>
            </a:r>
            <a:r>
              <a:rPr dirty="0" err="1"/>
              <a:t>operadores</a:t>
            </a:r>
            <a:r>
              <a:rPr dirty="0"/>
              <a:t> e</a:t>
            </a:r>
            <a:r>
              <a:rPr lang="pt-BR" dirty="0"/>
              <a:t> </a:t>
            </a:r>
            <a:r>
              <a:rPr dirty="0" err="1"/>
              <a:t>expressões</a:t>
            </a:r>
            <a:endParaRPr lang="pt-BR" dirty="0"/>
          </a:p>
          <a:p>
            <a:endParaRPr dirty="0"/>
          </a:p>
          <a:p>
            <a:r>
              <a:rPr dirty="0"/>
              <a:t>Conhecer e </a:t>
            </a:r>
            <a:r>
              <a:rPr dirty="0" err="1"/>
              <a:t>aplicar</a:t>
            </a:r>
            <a:r>
              <a:rPr dirty="0"/>
              <a:t> </a:t>
            </a:r>
            <a:r>
              <a:rPr dirty="0" err="1"/>
              <a:t>estruturas</a:t>
            </a:r>
            <a:r>
              <a:rPr lang="pt-BR" dirty="0"/>
              <a:t> </a:t>
            </a:r>
            <a:r>
              <a:rPr dirty="0" err="1"/>
              <a:t>condicionais</a:t>
            </a:r>
            <a:r>
              <a:rPr lang="pt-BR" dirty="0"/>
              <a:t> e de repetição</a:t>
            </a:r>
            <a:endParaRPr dirty="0"/>
          </a:p>
        </p:txBody>
      </p:sp>
      <p:sp>
        <p:nvSpPr>
          <p:cNvPr id="9" name="object 2"/>
          <p:cNvSpPr txBox="1">
            <a:spLocks/>
          </p:cNvSpPr>
          <p:nvPr/>
        </p:nvSpPr>
        <p:spPr>
          <a:xfrm>
            <a:off x="914400" y="635682"/>
            <a:ext cx="7239000" cy="6892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marL="12700">
              <a:spcBef>
                <a:spcPts val="105"/>
              </a:spcBef>
              <a:defRPr sz="4400" b="0" i="0" spc="-130">
                <a:latin typeface="Trebuchet MS"/>
                <a:ea typeface="+mj-ea"/>
                <a:cs typeface="Trebuchet MS"/>
              </a:defRPr>
            </a:lvl1pPr>
          </a:lstStyle>
          <a:p>
            <a:r>
              <a:rPr lang="pt-BR" dirty="0"/>
              <a:t>Objetivo da aula</a:t>
            </a:r>
          </a:p>
        </p:txBody>
      </p:sp>
    </p:spTree>
    <p:extLst>
      <p:ext uri="{BB962C8B-B14F-4D97-AF65-F5344CB8AC3E}">
        <p14:creationId xmlns:p14="http://schemas.microsoft.com/office/powerpoint/2010/main" val="3031041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1" y="491693"/>
            <a:ext cx="734408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kern="1200" spc="-130" dirty="0"/>
              <a:t>Como Funciona o Java 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1368" y="1407825"/>
            <a:ext cx="3494126" cy="4443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pt-BR"/>
            </a:defPPr>
            <a:lvl1pPr marL="457200" indent="-457200">
              <a:buFont typeface="Courier New" panose="02070309020205020404" pitchFamily="49" charset="0"/>
              <a:buChar char="o"/>
              <a:defRPr sz="2800" b="0" i="0"/>
            </a:lvl1pPr>
            <a:lvl2pPr marL="914400" lvl="1" indent="-457200">
              <a:buFont typeface="Courier New" panose="02070309020205020404" pitchFamily="49" charset="0"/>
              <a:buChar char="o"/>
              <a:defRPr sz="2400"/>
            </a:lvl2pPr>
          </a:lstStyle>
          <a:p>
            <a:r>
              <a:rPr dirty="0"/>
              <a:t>Linguagem Java</a:t>
            </a:r>
          </a:p>
        </p:txBody>
      </p:sp>
      <p:pic>
        <p:nvPicPr>
          <p:cNvPr id="44" name="Imagem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2209800"/>
            <a:ext cx="4376400" cy="391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926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490526"/>
            <a:ext cx="665955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kern="1200" spc="-130" dirty="0"/>
              <a:t>Nomenclatura do Java</a:t>
            </a:r>
          </a:p>
        </p:txBody>
      </p:sp>
      <p:grpSp>
        <p:nvGrpSpPr>
          <p:cNvPr id="30" name="Agrupar 29"/>
          <p:cNvGrpSpPr/>
          <p:nvPr/>
        </p:nvGrpSpPr>
        <p:grpSpPr>
          <a:xfrm>
            <a:off x="2590800" y="1600200"/>
            <a:ext cx="7772400" cy="4800600"/>
            <a:chOff x="2590800" y="1600200"/>
            <a:chExt cx="7772400" cy="4800600"/>
          </a:xfrm>
        </p:grpSpPr>
        <p:sp>
          <p:nvSpPr>
            <p:cNvPr id="23" name="Retângulo 22"/>
            <p:cNvSpPr/>
            <p:nvPr/>
          </p:nvSpPr>
          <p:spPr>
            <a:xfrm>
              <a:off x="2590800" y="1600200"/>
              <a:ext cx="7772400" cy="4800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Retângulo 23"/>
            <p:cNvSpPr/>
            <p:nvPr/>
          </p:nvSpPr>
          <p:spPr>
            <a:xfrm>
              <a:off x="2842424" y="1828800"/>
              <a:ext cx="7315200" cy="2514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Retângulo 24"/>
            <p:cNvSpPr/>
            <p:nvPr/>
          </p:nvSpPr>
          <p:spPr>
            <a:xfrm>
              <a:off x="3048000" y="2057400"/>
              <a:ext cx="3299624" cy="16764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4000" dirty="0"/>
                <a:t>JVM</a:t>
              </a:r>
            </a:p>
          </p:txBody>
        </p:sp>
        <p:sp>
          <p:nvSpPr>
            <p:cNvPr id="26" name="Retângulo 25"/>
            <p:cNvSpPr/>
            <p:nvPr/>
          </p:nvSpPr>
          <p:spPr>
            <a:xfrm>
              <a:off x="6652424" y="2057400"/>
              <a:ext cx="3299624" cy="1676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4000" dirty="0"/>
                <a:t>BIBLIOTECAS</a:t>
              </a:r>
            </a:p>
          </p:txBody>
        </p:sp>
        <p:sp>
          <p:nvSpPr>
            <p:cNvPr id="27" name="Retângulo 26"/>
            <p:cNvSpPr/>
            <p:nvPr/>
          </p:nvSpPr>
          <p:spPr>
            <a:xfrm>
              <a:off x="4850212" y="4676775"/>
              <a:ext cx="3299624" cy="135469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4000" dirty="0"/>
                <a:t>SDK</a:t>
              </a:r>
              <a:br>
                <a:rPr lang="pt-BR" sz="4000" dirty="0"/>
              </a:br>
              <a:r>
                <a:rPr lang="pt-BR" sz="2000" dirty="0"/>
                <a:t>Software </a:t>
              </a:r>
              <a:r>
                <a:rPr lang="pt-BR" sz="2000" dirty="0" err="1"/>
                <a:t>Development</a:t>
              </a:r>
              <a:r>
                <a:rPr lang="pt-BR" sz="2000" dirty="0"/>
                <a:t> Kit</a:t>
              </a:r>
              <a:endParaRPr lang="pt-BR" sz="4000" dirty="0"/>
            </a:p>
          </p:txBody>
        </p:sp>
        <p:sp>
          <p:nvSpPr>
            <p:cNvPr id="28" name="Retângulo 27"/>
            <p:cNvSpPr/>
            <p:nvPr/>
          </p:nvSpPr>
          <p:spPr>
            <a:xfrm>
              <a:off x="3048000" y="3853934"/>
              <a:ext cx="321453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b="1" dirty="0"/>
                <a:t>JRE</a:t>
              </a:r>
              <a:r>
                <a:rPr lang="pt-BR" dirty="0"/>
                <a:t> – Java </a:t>
              </a:r>
              <a:r>
                <a:rPr lang="pt-BR" dirty="0" err="1"/>
                <a:t>Runtime</a:t>
              </a:r>
              <a:r>
                <a:rPr lang="pt-BR" dirty="0"/>
                <a:t> </a:t>
              </a:r>
              <a:r>
                <a:rPr lang="pt-BR" dirty="0" err="1"/>
                <a:t>Environment</a:t>
              </a:r>
              <a:endParaRPr lang="pt-BR" dirty="0"/>
            </a:p>
          </p:txBody>
        </p:sp>
        <p:sp>
          <p:nvSpPr>
            <p:cNvPr id="29" name="Retângulo 28"/>
            <p:cNvSpPr/>
            <p:nvPr/>
          </p:nvSpPr>
          <p:spPr>
            <a:xfrm>
              <a:off x="2774909" y="6031467"/>
              <a:ext cx="27703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b="1" dirty="0"/>
                <a:t>JDK</a:t>
              </a:r>
              <a:r>
                <a:rPr lang="pt-BR" dirty="0"/>
                <a:t> – Java </a:t>
              </a:r>
              <a:r>
                <a:rPr lang="pt-BR" dirty="0" err="1"/>
                <a:t>Development</a:t>
              </a:r>
              <a:r>
                <a:rPr lang="pt-BR" dirty="0"/>
                <a:t> Kit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4902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533400" y="491693"/>
            <a:ext cx="644301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kern="1200" spc="-130" dirty="0"/>
              <a:t>Estrutura do Código</a:t>
            </a:r>
          </a:p>
        </p:txBody>
      </p:sp>
      <p:grpSp>
        <p:nvGrpSpPr>
          <p:cNvPr id="82" name="Agrupar 81"/>
          <p:cNvGrpSpPr/>
          <p:nvPr/>
        </p:nvGrpSpPr>
        <p:grpSpPr>
          <a:xfrm>
            <a:off x="1393228" y="1556617"/>
            <a:ext cx="4038600" cy="4800600"/>
            <a:chOff x="1295400" y="1562073"/>
            <a:chExt cx="4038600" cy="4800600"/>
          </a:xfrm>
        </p:grpSpPr>
        <p:sp>
          <p:nvSpPr>
            <p:cNvPr id="60" name="Retângulo 59"/>
            <p:cNvSpPr/>
            <p:nvPr/>
          </p:nvSpPr>
          <p:spPr>
            <a:xfrm>
              <a:off x="1295400" y="1562073"/>
              <a:ext cx="4038600" cy="4800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1" name="Retângulo 60"/>
            <p:cNvSpPr/>
            <p:nvPr/>
          </p:nvSpPr>
          <p:spPr>
            <a:xfrm>
              <a:off x="1532326" y="1752600"/>
              <a:ext cx="124514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/>
                <a:t>Projeto.exe</a:t>
              </a:r>
            </a:p>
          </p:txBody>
        </p:sp>
        <p:sp>
          <p:nvSpPr>
            <p:cNvPr id="62" name="Retângulo 61"/>
            <p:cNvSpPr/>
            <p:nvPr/>
          </p:nvSpPr>
          <p:spPr>
            <a:xfrm>
              <a:off x="1447800" y="2209801"/>
              <a:ext cx="3733800" cy="3962400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3" name="Retângulo 62"/>
            <p:cNvSpPr/>
            <p:nvPr/>
          </p:nvSpPr>
          <p:spPr>
            <a:xfrm>
              <a:off x="1532326" y="2256138"/>
              <a:ext cx="14906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/>
                <a:t>Programa.cpp</a:t>
              </a:r>
            </a:p>
          </p:txBody>
        </p:sp>
        <p:sp>
          <p:nvSpPr>
            <p:cNvPr id="64" name="Retângulo 63"/>
            <p:cNvSpPr/>
            <p:nvPr/>
          </p:nvSpPr>
          <p:spPr>
            <a:xfrm>
              <a:off x="1600200" y="2713340"/>
              <a:ext cx="3429000" cy="6717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main</a:t>
              </a:r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66" name="Retângulo 65"/>
            <p:cNvSpPr/>
            <p:nvPr/>
          </p:nvSpPr>
          <p:spPr>
            <a:xfrm>
              <a:off x="1600200" y="3566469"/>
              <a:ext cx="3429000" cy="671728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Funcao</a:t>
              </a:r>
              <a:r>
                <a:rPr lang="pt-BR" dirty="0"/>
                <a:t> 1</a:t>
              </a:r>
            </a:p>
          </p:txBody>
        </p:sp>
        <p:sp>
          <p:nvSpPr>
            <p:cNvPr id="67" name="Retângulo 66"/>
            <p:cNvSpPr/>
            <p:nvPr/>
          </p:nvSpPr>
          <p:spPr>
            <a:xfrm>
              <a:off x="1603513" y="4428843"/>
              <a:ext cx="3429000" cy="671728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Funcao</a:t>
              </a:r>
              <a:r>
                <a:rPr lang="pt-BR" dirty="0"/>
                <a:t> 2</a:t>
              </a:r>
            </a:p>
          </p:txBody>
        </p:sp>
        <p:sp>
          <p:nvSpPr>
            <p:cNvPr id="68" name="Retângulo 67"/>
            <p:cNvSpPr/>
            <p:nvPr/>
          </p:nvSpPr>
          <p:spPr>
            <a:xfrm>
              <a:off x="1600200" y="5281972"/>
              <a:ext cx="3429000" cy="671728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Funcao</a:t>
              </a:r>
              <a:r>
                <a:rPr lang="pt-BR" dirty="0"/>
                <a:t> 3</a:t>
              </a:r>
            </a:p>
          </p:txBody>
        </p:sp>
      </p:grpSp>
      <p:grpSp>
        <p:nvGrpSpPr>
          <p:cNvPr id="83" name="Agrupar 82"/>
          <p:cNvGrpSpPr/>
          <p:nvPr/>
        </p:nvGrpSpPr>
        <p:grpSpPr>
          <a:xfrm>
            <a:off x="6592957" y="1266825"/>
            <a:ext cx="4833731" cy="5052292"/>
            <a:chOff x="6592957" y="1266825"/>
            <a:chExt cx="4833731" cy="5052292"/>
          </a:xfrm>
        </p:grpSpPr>
        <p:sp>
          <p:nvSpPr>
            <p:cNvPr id="69" name="Retângulo 68"/>
            <p:cNvSpPr/>
            <p:nvPr/>
          </p:nvSpPr>
          <p:spPr>
            <a:xfrm>
              <a:off x="6592957" y="1518517"/>
              <a:ext cx="4038600" cy="4800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7" name="Retângulo 76"/>
            <p:cNvSpPr/>
            <p:nvPr/>
          </p:nvSpPr>
          <p:spPr>
            <a:xfrm>
              <a:off x="6742044" y="2227564"/>
              <a:ext cx="3733800" cy="391606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0" name="Retângulo 69"/>
            <p:cNvSpPr/>
            <p:nvPr/>
          </p:nvSpPr>
          <p:spPr>
            <a:xfrm>
              <a:off x="6829883" y="1709044"/>
              <a:ext cx="11697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/>
                <a:t>Projeto.jar</a:t>
              </a:r>
            </a:p>
          </p:txBody>
        </p:sp>
        <p:sp>
          <p:nvSpPr>
            <p:cNvPr id="71" name="Retângulo 70"/>
            <p:cNvSpPr/>
            <p:nvPr/>
          </p:nvSpPr>
          <p:spPr>
            <a:xfrm>
              <a:off x="6864627" y="2713302"/>
              <a:ext cx="3462130" cy="327792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2" name="Retângulo 71"/>
            <p:cNvSpPr/>
            <p:nvPr/>
          </p:nvSpPr>
          <p:spPr>
            <a:xfrm>
              <a:off x="6897757" y="2807221"/>
              <a:ext cx="12971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/>
                <a:t>Projeto.java</a:t>
              </a:r>
            </a:p>
          </p:txBody>
        </p:sp>
        <p:sp>
          <p:nvSpPr>
            <p:cNvPr id="73" name="Retângulo 72"/>
            <p:cNvSpPr/>
            <p:nvPr/>
          </p:nvSpPr>
          <p:spPr>
            <a:xfrm>
              <a:off x="7066721" y="3282979"/>
              <a:ext cx="3071192" cy="6717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main</a:t>
              </a:r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74" name="Retângulo 73"/>
            <p:cNvSpPr/>
            <p:nvPr/>
          </p:nvSpPr>
          <p:spPr>
            <a:xfrm>
              <a:off x="7096536" y="4209622"/>
              <a:ext cx="3041377" cy="671728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metodo</a:t>
              </a:r>
              <a:r>
                <a:rPr lang="pt-BR" dirty="0"/>
                <a:t> 1</a:t>
              </a:r>
            </a:p>
          </p:txBody>
        </p:sp>
        <p:sp>
          <p:nvSpPr>
            <p:cNvPr id="76" name="Retângulo 75"/>
            <p:cNvSpPr/>
            <p:nvPr/>
          </p:nvSpPr>
          <p:spPr>
            <a:xfrm>
              <a:off x="7086600" y="5097311"/>
              <a:ext cx="3051313" cy="671728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Metodo</a:t>
              </a:r>
              <a:r>
                <a:rPr lang="pt-BR" dirty="0"/>
                <a:t> 2</a:t>
              </a:r>
            </a:p>
          </p:txBody>
        </p:sp>
        <p:sp>
          <p:nvSpPr>
            <p:cNvPr id="78" name="Retângulo 77"/>
            <p:cNvSpPr/>
            <p:nvPr/>
          </p:nvSpPr>
          <p:spPr>
            <a:xfrm>
              <a:off x="6829883" y="2343970"/>
              <a:ext cx="8165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/>
                <a:t>Pacote</a:t>
              </a:r>
            </a:p>
          </p:txBody>
        </p:sp>
        <p:sp>
          <p:nvSpPr>
            <p:cNvPr id="79" name="Elipse 78"/>
            <p:cNvSpPr/>
            <p:nvPr/>
          </p:nvSpPr>
          <p:spPr>
            <a:xfrm>
              <a:off x="8991600" y="1266825"/>
              <a:ext cx="1752600" cy="685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dk1"/>
                  </a:solidFill>
                </a:rPr>
                <a:t>Projeto</a:t>
              </a:r>
            </a:p>
          </p:txBody>
        </p:sp>
        <p:sp>
          <p:nvSpPr>
            <p:cNvPr id="80" name="Elipse 79"/>
            <p:cNvSpPr/>
            <p:nvPr/>
          </p:nvSpPr>
          <p:spPr>
            <a:xfrm>
              <a:off x="9674088" y="2168586"/>
              <a:ext cx="1752600" cy="685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dk1"/>
                  </a:solidFill>
                </a:rPr>
                <a:t>Pacote</a:t>
              </a:r>
            </a:p>
          </p:txBody>
        </p:sp>
        <p:sp>
          <p:nvSpPr>
            <p:cNvPr id="81" name="Elipse 80"/>
            <p:cNvSpPr/>
            <p:nvPr/>
          </p:nvSpPr>
          <p:spPr>
            <a:xfrm>
              <a:off x="9573040" y="3703577"/>
              <a:ext cx="1752600" cy="6858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Classes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8119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1" y="491693"/>
            <a:ext cx="829023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kern="1200" spc="-130" dirty="0" err="1"/>
              <a:t>Estrutura</a:t>
            </a:r>
            <a:r>
              <a:rPr kern="1200" spc="-130" dirty="0"/>
              <a:t> </a:t>
            </a:r>
            <a:r>
              <a:rPr lang="pt-BR" kern="1200" spc="-130" dirty="0"/>
              <a:t>do Código</a:t>
            </a:r>
            <a:endParaRPr kern="1200" spc="-130" dirty="0"/>
          </a:p>
        </p:txBody>
      </p:sp>
      <p:pic>
        <p:nvPicPr>
          <p:cNvPr id="20" name="Imagem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209800"/>
            <a:ext cx="6791325" cy="3886200"/>
          </a:xfrm>
          <a:prstGeom prst="rect">
            <a:avLst/>
          </a:prstGeom>
        </p:spPr>
      </p:pic>
      <p:cxnSp>
        <p:nvCxnSpPr>
          <p:cNvPr id="22" name="Conector de Seta Reta 21"/>
          <p:cNvCxnSpPr>
            <a:stCxn id="25" idx="1"/>
          </p:cNvCxnSpPr>
          <p:nvPr/>
        </p:nvCxnSpPr>
        <p:spPr>
          <a:xfrm flipH="1">
            <a:off x="4191000" y="1905000"/>
            <a:ext cx="4191000" cy="4572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Retângulo 23"/>
          <p:cNvSpPr/>
          <p:nvPr/>
        </p:nvSpPr>
        <p:spPr>
          <a:xfrm>
            <a:off x="1524000" y="3389732"/>
            <a:ext cx="5715000" cy="21728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/>
          <p:cNvSpPr/>
          <p:nvPr/>
        </p:nvSpPr>
        <p:spPr>
          <a:xfrm>
            <a:off x="8382000" y="1720334"/>
            <a:ext cx="18512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Pacote do projeto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8899776" y="3408782"/>
            <a:ext cx="2667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Conteúdo da Classe, o conteúdo varia conforme o número de métodos</a:t>
            </a:r>
          </a:p>
        </p:txBody>
      </p:sp>
      <p:cxnSp>
        <p:nvCxnSpPr>
          <p:cNvPr id="27" name="Conector de Seta Reta 26"/>
          <p:cNvCxnSpPr>
            <a:stCxn id="26" idx="1"/>
          </p:cNvCxnSpPr>
          <p:nvPr/>
        </p:nvCxnSpPr>
        <p:spPr>
          <a:xfrm flipH="1">
            <a:off x="7467600" y="3870447"/>
            <a:ext cx="1432176" cy="3205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926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2"/>
          <p:cNvSpPr txBox="1">
            <a:spLocks noGrp="1"/>
          </p:cNvSpPr>
          <p:nvPr>
            <p:ph type="title"/>
          </p:nvPr>
        </p:nvSpPr>
        <p:spPr>
          <a:xfrm>
            <a:off x="609601" y="491693"/>
            <a:ext cx="829023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kern="1200" spc="-130" dirty="0" err="1"/>
              <a:t>Estrutura</a:t>
            </a:r>
            <a:r>
              <a:rPr kern="1200" spc="-130" dirty="0"/>
              <a:t> </a:t>
            </a:r>
            <a:r>
              <a:rPr lang="pt-BR" kern="1200" spc="-130" dirty="0"/>
              <a:t>do Código</a:t>
            </a:r>
            <a:endParaRPr kern="1200" spc="-130" dirty="0"/>
          </a:p>
        </p:txBody>
      </p:sp>
      <p:pic>
        <p:nvPicPr>
          <p:cNvPr id="16" name="Imagem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209800"/>
            <a:ext cx="6791325" cy="3886200"/>
          </a:xfrm>
          <a:prstGeom prst="rect">
            <a:avLst/>
          </a:prstGeom>
        </p:spPr>
      </p:pic>
      <p:sp>
        <p:nvSpPr>
          <p:cNvPr id="18" name="Retângulo 17"/>
          <p:cNvSpPr/>
          <p:nvPr/>
        </p:nvSpPr>
        <p:spPr>
          <a:xfrm>
            <a:off x="1905000" y="3733801"/>
            <a:ext cx="5334000" cy="1447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/>
          <p:cNvSpPr/>
          <p:nvPr/>
        </p:nvSpPr>
        <p:spPr>
          <a:xfrm>
            <a:off x="8899831" y="3886200"/>
            <a:ext cx="2667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Conteúdo do Método</a:t>
            </a:r>
          </a:p>
        </p:txBody>
      </p:sp>
      <p:cxnSp>
        <p:nvCxnSpPr>
          <p:cNvPr id="21" name="Conector de Seta Reta 20"/>
          <p:cNvCxnSpPr>
            <a:stCxn id="20" idx="1"/>
          </p:cNvCxnSpPr>
          <p:nvPr/>
        </p:nvCxnSpPr>
        <p:spPr>
          <a:xfrm flipH="1">
            <a:off x="7467655" y="4070866"/>
            <a:ext cx="1432176" cy="29275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112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491693"/>
            <a:ext cx="8537878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kern="1200" spc="-130" dirty="0"/>
              <a:t>Analogia da Estruturação Java</a:t>
            </a:r>
          </a:p>
        </p:txBody>
      </p:sp>
      <p:sp>
        <p:nvSpPr>
          <p:cNvPr id="47" name="Retângulo 46"/>
          <p:cNvSpPr/>
          <p:nvPr/>
        </p:nvSpPr>
        <p:spPr>
          <a:xfrm>
            <a:off x="2590800" y="2192074"/>
            <a:ext cx="2435097" cy="6717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Projeto</a:t>
            </a:r>
          </a:p>
        </p:txBody>
      </p:sp>
      <p:sp>
        <p:nvSpPr>
          <p:cNvPr id="48" name="Retângulo 47"/>
          <p:cNvSpPr/>
          <p:nvPr/>
        </p:nvSpPr>
        <p:spPr>
          <a:xfrm>
            <a:off x="2590800" y="3191537"/>
            <a:ext cx="2435097" cy="6717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Pacote</a:t>
            </a:r>
          </a:p>
        </p:txBody>
      </p:sp>
      <p:sp>
        <p:nvSpPr>
          <p:cNvPr id="49" name="Retângulo 48"/>
          <p:cNvSpPr/>
          <p:nvPr/>
        </p:nvSpPr>
        <p:spPr>
          <a:xfrm>
            <a:off x="2590800" y="4191000"/>
            <a:ext cx="2435097" cy="6717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Classe</a:t>
            </a:r>
          </a:p>
        </p:txBody>
      </p:sp>
      <p:sp>
        <p:nvSpPr>
          <p:cNvPr id="50" name="Retângulo 49"/>
          <p:cNvSpPr/>
          <p:nvPr/>
        </p:nvSpPr>
        <p:spPr>
          <a:xfrm>
            <a:off x="2590800" y="5190463"/>
            <a:ext cx="2435097" cy="6717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Método</a:t>
            </a:r>
          </a:p>
        </p:txBody>
      </p:sp>
      <p:sp>
        <p:nvSpPr>
          <p:cNvPr id="52" name="Retângulo 51"/>
          <p:cNvSpPr/>
          <p:nvPr/>
        </p:nvSpPr>
        <p:spPr>
          <a:xfrm>
            <a:off x="7540497" y="2192074"/>
            <a:ext cx="2435097" cy="6717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Office</a:t>
            </a:r>
          </a:p>
        </p:txBody>
      </p:sp>
      <p:sp>
        <p:nvSpPr>
          <p:cNvPr id="53" name="Retângulo 52"/>
          <p:cNvSpPr/>
          <p:nvPr/>
        </p:nvSpPr>
        <p:spPr>
          <a:xfrm>
            <a:off x="7540497" y="3191537"/>
            <a:ext cx="2435097" cy="6717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Word</a:t>
            </a:r>
          </a:p>
        </p:txBody>
      </p:sp>
      <p:sp>
        <p:nvSpPr>
          <p:cNvPr id="54" name="Retângulo 53"/>
          <p:cNvSpPr/>
          <p:nvPr/>
        </p:nvSpPr>
        <p:spPr>
          <a:xfrm>
            <a:off x="7540497" y="4191000"/>
            <a:ext cx="2435097" cy="6717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Documento</a:t>
            </a:r>
          </a:p>
        </p:txBody>
      </p:sp>
      <p:sp>
        <p:nvSpPr>
          <p:cNvPr id="55" name="Retângulo 54"/>
          <p:cNvSpPr/>
          <p:nvPr/>
        </p:nvSpPr>
        <p:spPr>
          <a:xfrm>
            <a:off x="7540497" y="5190463"/>
            <a:ext cx="2435097" cy="6717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Recurso correção ortográfica</a:t>
            </a:r>
          </a:p>
        </p:txBody>
      </p:sp>
      <p:sp>
        <p:nvSpPr>
          <p:cNvPr id="56" name="Seta para a Direita 55"/>
          <p:cNvSpPr/>
          <p:nvPr/>
        </p:nvSpPr>
        <p:spPr>
          <a:xfrm>
            <a:off x="5025897" y="2380006"/>
            <a:ext cx="2514600" cy="304800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50000">
                <a:schemeClr val="accent2">
                  <a:lumMod val="20000"/>
                  <a:lumOff val="80000"/>
                </a:scheme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Seta para a Direita 56"/>
          <p:cNvSpPr/>
          <p:nvPr/>
        </p:nvSpPr>
        <p:spPr>
          <a:xfrm>
            <a:off x="5025897" y="3373174"/>
            <a:ext cx="2514600" cy="304800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50000">
                <a:schemeClr val="accent2">
                  <a:lumMod val="20000"/>
                  <a:lumOff val="80000"/>
                </a:scheme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Seta para a Direita 57"/>
          <p:cNvSpPr/>
          <p:nvPr/>
        </p:nvSpPr>
        <p:spPr>
          <a:xfrm>
            <a:off x="5025897" y="4366342"/>
            <a:ext cx="2514600" cy="304800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50000">
                <a:schemeClr val="accent2">
                  <a:lumMod val="20000"/>
                  <a:lumOff val="80000"/>
                </a:scheme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Seta para a Direita 58"/>
          <p:cNvSpPr/>
          <p:nvPr/>
        </p:nvSpPr>
        <p:spPr>
          <a:xfrm>
            <a:off x="5025897" y="5372100"/>
            <a:ext cx="2514600" cy="304800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50000">
                <a:schemeClr val="accent2">
                  <a:lumMod val="20000"/>
                  <a:lumOff val="80000"/>
                </a:scheme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3736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1" y="491693"/>
            <a:ext cx="81518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kern="1200" spc="-130" dirty="0"/>
              <a:t>Impressão de Dados em 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000" y="1600200"/>
            <a:ext cx="10287000" cy="4732193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R="5080">
              <a:lnSpc>
                <a:spcPct val="110000"/>
              </a:lnSpc>
              <a:spcBef>
                <a:spcPts val="15"/>
              </a:spcBef>
            </a:pPr>
            <a:r>
              <a:rPr lang="pt-BR" sz="2800" spc="-5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arlito"/>
              </a:rPr>
              <a:t>System.out.print</a:t>
            </a:r>
            <a:r>
              <a:rPr lang="pt-BR" sz="2800" spc="-5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arlito"/>
              </a:rPr>
              <a:t>("Nome"); </a:t>
            </a:r>
          </a:p>
          <a:p>
            <a:pPr marR="5080">
              <a:lnSpc>
                <a:spcPct val="110000"/>
              </a:lnSpc>
              <a:spcBef>
                <a:spcPts val="15"/>
              </a:spcBef>
            </a:pPr>
            <a:r>
              <a:rPr lang="pt-BR" sz="2800" spc="-5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arlito"/>
              </a:rPr>
              <a:t>           </a:t>
            </a:r>
          </a:p>
          <a:p>
            <a:pPr marR="5080">
              <a:lnSpc>
                <a:spcPct val="110000"/>
              </a:lnSpc>
              <a:spcBef>
                <a:spcPts val="15"/>
              </a:spcBef>
            </a:pPr>
            <a:r>
              <a:rPr lang="pt-BR" sz="2800" spc="-5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arlito"/>
              </a:rPr>
              <a:t>var </a:t>
            </a:r>
            <a:r>
              <a:rPr lang="pt-BR" sz="2800" spc="-5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arlito"/>
              </a:rPr>
              <a:t>variavel</a:t>
            </a:r>
            <a:r>
              <a:rPr lang="pt-BR" sz="2800" spc="-5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arlito"/>
              </a:rPr>
              <a:t> = "Warner";</a:t>
            </a:r>
          </a:p>
          <a:p>
            <a:pPr marR="5080">
              <a:lnSpc>
                <a:spcPct val="110000"/>
              </a:lnSpc>
              <a:spcBef>
                <a:spcPts val="15"/>
              </a:spcBef>
            </a:pPr>
            <a:r>
              <a:rPr lang="pt-BR" sz="2800" spc="-5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arlito"/>
              </a:rPr>
              <a:t>System.out.print</a:t>
            </a:r>
            <a:r>
              <a:rPr lang="pt-BR" sz="2800" spc="-5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arlito"/>
              </a:rPr>
              <a:t>(</a:t>
            </a:r>
            <a:r>
              <a:rPr lang="pt-BR" sz="2800" spc="-5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arlito"/>
              </a:rPr>
              <a:t>variavel</a:t>
            </a:r>
            <a:r>
              <a:rPr lang="pt-BR" sz="2800" spc="-5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arlito"/>
              </a:rPr>
              <a:t>);  </a:t>
            </a:r>
          </a:p>
          <a:p>
            <a:pPr marR="5080">
              <a:lnSpc>
                <a:spcPct val="110000"/>
              </a:lnSpc>
              <a:spcBef>
                <a:spcPts val="15"/>
              </a:spcBef>
            </a:pPr>
            <a:endParaRPr lang="pt-BR" sz="2800" spc="-5" dirty="0">
              <a:solidFill>
                <a:schemeClr val="tx2">
                  <a:lumMod val="75000"/>
                </a:schemeClr>
              </a:solidFill>
              <a:latin typeface="Consolas" panose="020B0609020204030204" pitchFamily="49" charset="0"/>
              <a:cs typeface="Carlito"/>
            </a:endParaRPr>
          </a:p>
          <a:p>
            <a:pPr marR="5080">
              <a:lnSpc>
                <a:spcPct val="110000"/>
              </a:lnSpc>
              <a:spcBef>
                <a:spcPts val="15"/>
              </a:spcBef>
            </a:pPr>
            <a:r>
              <a:rPr lang="pt-BR" sz="2800" spc="-5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arlito"/>
              </a:rPr>
              <a:t>System.out.print</a:t>
            </a:r>
            <a:r>
              <a:rPr lang="pt-BR" sz="2800" spc="-5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arlito"/>
              </a:rPr>
              <a:t>("Nome: " + </a:t>
            </a:r>
            <a:r>
              <a:rPr lang="pt-BR" sz="2800" spc="-5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arlito"/>
              </a:rPr>
              <a:t>variavel</a:t>
            </a:r>
            <a:r>
              <a:rPr lang="pt-BR" sz="2800" spc="-5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arlito"/>
              </a:rPr>
              <a:t>);</a:t>
            </a:r>
          </a:p>
          <a:p>
            <a:pPr marR="5080">
              <a:lnSpc>
                <a:spcPct val="110000"/>
              </a:lnSpc>
              <a:spcBef>
                <a:spcPts val="15"/>
              </a:spcBef>
            </a:pPr>
            <a:r>
              <a:rPr lang="pt-BR" sz="2800" spc="-5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arlito"/>
              </a:rPr>
              <a:t>System.out.printf</a:t>
            </a:r>
            <a:r>
              <a:rPr lang="pt-BR" sz="2800" spc="-5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arlito"/>
              </a:rPr>
              <a:t>("\</a:t>
            </a:r>
            <a:r>
              <a:rPr lang="pt-BR" sz="2800" spc="-5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arlito"/>
              </a:rPr>
              <a:t>nNome</a:t>
            </a:r>
            <a:r>
              <a:rPr lang="pt-BR" sz="2800" spc="-5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arlito"/>
              </a:rPr>
              <a:t>: %s\n", </a:t>
            </a:r>
            <a:r>
              <a:rPr lang="pt-BR" sz="2800" spc="-5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arlito"/>
              </a:rPr>
              <a:t>variavel</a:t>
            </a:r>
            <a:r>
              <a:rPr lang="pt-BR" sz="2800" spc="-5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arlito"/>
              </a:rPr>
              <a:t>);</a:t>
            </a:r>
          </a:p>
          <a:p>
            <a:pPr marR="5080">
              <a:lnSpc>
                <a:spcPct val="110000"/>
              </a:lnSpc>
              <a:spcBef>
                <a:spcPts val="15"/>
              </a:spcBef>
            </a:pPr>
            <a:r>
              <a:rPr lang="pt-BR" sz="2800" spc="-5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arlito"/>
              </a:rPr>
              <a:t>        </a:t>
            </a:r>
          </a:p>
          <a:p>
            <a:pPr marR="5080">
              <a:lnSpc>
                <a:spcPct val="110000"/>
              </a:lnSpc>
              <a:spcBef>
                <a:spcPts val="15"/>
              </a:spcBef>
            </a:pPr>
            <a:r>
              <a:rPr lang="pt-BR" sz="2800" spc="-5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arlito"/>
              </a:rPr>
              <a:t>System.out.println</a:t>
            </a:r>
            <a:r>
              <a:rPr lang="pt-BR" sz="2800" spc="-5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arlito"/>
              </a:rPr>
              <a:t>("texto");</a:t>
            </a:r>
          </a:p>
          <a:p>
            <a:pPr marR="5080">
              <a:lnSpc>
                <a:spcPct val="110000"/>
              </a:lnSpc>
              <a:spcBef>
                <a:spcPts val="15"/>
              </a:spcBef>
            </a:pPr>
            <a:r>
              <a:rPr lang="pt-BR" sz="2800" spc="-5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arlito"/>
              </a:rPr>
              <a:t>System.out.printf</a:t>
            </a:r>
            <a:r>
              <a:rPr lang="pt-BR" sz="2800" spc="-5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arlito"/>
              </a:rPr>
              <a:t>("texto");</a:t>
            </a:r>
            <a:endParaRPr sz="2800" dirty="0">
              <a:solidFill>
                <a:schemeClr val="tx2">
                  <a:lumMod val="75000"/>
                </a:schemeClr>
              </a:solidFill>
              <a:latin typeface="Consolas" panose="020B0609020204030204" pitchFamily="49" charset="0"/>
              <a:cs typeface="Arial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8763000" y="5657487"/>
            <a:ext cx="2362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Carlito"/>
                <a:cs typeface="Carlito"/>
              </a:rPr>
              <a:t>Facilitando a vida!</a:t>
            </a:r>
            <a:br>
              <a:rPr lang="pt-BR" b="1" dirty="0">
                <a:solidFill>
                  <a:srgbClr val="FF0000"/>
                </a:solidFill>
                <a:latin typeface="Carlito"/>
                <a:cs typeface="Carlito"/>
              </a:rPr>
            </a:br>
            <a:r>
              <a:rPr lang="pt-BR" dirty="0" err="1">
                <a:solidFill>
                  <a:srgbClr val="FF0000"/>
                </a:solidFill>
                <a:latin typeface="Carlito"/>
                <a:cs typeface="Carlito"/>
              </a:rPr>
              <a:t>sout</a:t>
            </a:r>
            <a:r>
              <a:rPr lang="pt-BR" dirty="0">
                <a:solidFill>
                  <a:srgbClr val="FF0000"/>
                </a:solidFill>
                <a:latin typeface="Carlito"/>
                <a:cs typeface="Carlito"/>
              </a:rPr>
              <a:t> + [Tecla </a:t>
            </a:r>
            <a:r>
              <a:rPr lang="pt-BR" dirty="0" err="1">
                <a:solidFill>
                  <a:srgbClr val="FF0000"/>
                </a:solidFill>
                <a:latin typeface="Carlito"/>
                <a:cs typeface="Carlito"/>
              </a:rPr>
              <a:t>Tab</a:t>
            </a:r>
            <a:r>
              <a:rPr lang="pt-BR" dirty="0">
                <a:solidFill>
                  <a:srgbClr val="FF0000"/>
                </a:solidFill>
                <a:latin typeface="Carlito"/>
                <a:cs typeface="Carlito"/>
              </a:rPr>
              <a:t>]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88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491693"/>
            <a:ext cx="705642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kern="1200" spc="-130" dirty="0"/>
              <a:t>Primeiro Programa 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800" y="1828800"/>
            <a:ext cx="8539479" cy="2954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pt-BR"/>
            </a:defPPr>
            <a:lvl1pPr marL="457200" indent="-457200">
              <a:buFont typeface="Courier New" panose="02070309020205020404" pitchFamily="49" charset="0"/>
              <a:buChar char="o"/>
              <a:defRPr sz="3200" b="0" i="0"/>
            </a:lvl1pPr>
            <a:lvl2pPr marL="914400" lvl="1" indent="-457200">
              <a:buFont typeface="Courier New" panose="02070309020205020404" pitchFamily="49" charset="0"/>
              <a:buChar char="o"/>
              <a:defRPr sz="2400"/>
            </a:lvl2pPr>
          </a:lstStyle>
          <a:p>
            <a:r>
              <a:rPr dirty="0"/>
              <a:t>Compilar o programa java</a:t>
            </a:r>
          </a:p>
          <a:p>
            <a:pPr marL="0" indent="0">
              <a:buNone/>
            </a:pPr>
            <a:r>
              <a:rPr lang="pt-BR" dirty="0"/>
              <a:t>	J</a:t>
            </a:r>
            <a:r>
              <a:rPr dirty="0" err="1"/>
              <a:t>avac</a:t>
            </a:r>
            <a:r>
              <a:rPr lang="pt-BR" dirty="0"/>
              <a:t> </a:t>
            </a:r>
            <a:r>
              <a:rPr lang="pt-BR" dirty="0" err="1"/>
              <a:t>nomeP</a:t>
            </a:r>
            <a:r>
              <a:rPr dirty="0"/>
              <a:t>ograma.java</a:t>
            </a:r>
          </a:p>
          <a:p>
            <a:endParaRPr dirty="0"/>
          </a:p>
          <a:p>
            <a:r>
              <a:rPr dirty="0" err="1"/>
              <a:t>Executar</a:t>
            </a:r>
            <a:r>
              <a:rPr dirty="0"/>
              <a:t> um programa java</a:t>
            </a:r>
          </a:p>
          <a:p>
            <a:pPr marL="0" indent="0">
              <a:buNone/>
            </a:pPr>
            <a:r>
              <a:rPr lang="pt-BR" dirty="0"/>
              <a:t>	j</a:t>
            </a:r>
            <a:r>
              <a:rPr dirty="0"/>
              <a:t>ava</a:t>
            </a:r>
            <a:r>
              <a:rPr lang="pt-BR" dirty="0"/>
              <a:t> </a:t>
            </a:r>
            <a:r>
              <a:rPr lang="pt-BR" dirty="0" err="1"/>
              <a:t>nomeProg</a:t>
            </a:r>
            <a:r>
              <a:rPr dirty="0" err="1"/>
              <a:t>rama</a:t>
            </a:r>
            <a:r>
              <a:rPr lang="pt-BR" dirty="0"/>
              <a:t>.</a:t>
            </a:r>
            <a:r>
              <a:rPr lang="pt-BR" dirty="0" err="1"/>
              <a:t>java</a:t>
            </a:r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9049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929" y="3285783"/>
            <a:ext cx="6257925" cy="32766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491693"/>
            <a:ext cx="843818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kern="1200" spc="-130" dirty="0"/>
              <a:t>Declarando Variáveis em Java</a:t>
            </a:r>
          </a:p>
        </p:txBody>
      </p:sp>
      <p:sp>
        <p:nvSpPr>
          <p:cNvPr id="9" name="Retângulo 8"/>
          <p:cNvSpPr/>
          <p:nvPr/>
        </p:nvSpPr>
        <p:spPr>
          <a:xfrm>
            <a:off x="914400" y="1432217"/>
            <a:ext cx="8991600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pt-BR" sz="3200" dirty="0"/>
              <a:t>Linguagem fortemente </a:t>
            </a:r>
            <a:r>
              <a:rPr lang="pt-BR" sz="3200" dirty="0" err="1"/>
              <a:t>tipada</a:t>
            </a:r>
            <a:endParaRPr lang="pt-BR" sz="3200" dirty="0"/>
          </a:p>
          <a:p>
            <a:r>
              <a:rPr lang="pt-BR" sz="3200" dirty="0"/>
              <a:t>	</a:t>
            </a:r>
            <a:r>
              <a:rPr lang="pt-BR" sz="3200" dirty="0" err="1"/>
              <a:t>tipoDeVariavel</a:t>
            </a:r>
            <a:r>
              <a:rPr lang="pt-BR" sz="3200" dirty="0"/>
              <a:t> </a:t>
            </a:r>
            <a:r>
              <a:rPr lang="pt-BR" sz="3200" dirty="0" err="1"/>
              <a:t>nomeDaVariavel</a:t>
            </a:r>
            <a:r>
              <a:rPr lang="pt-BR" sz="3200" dirty="0"/>
              <a:t>;</a:t>
            </a:r>
          </a:p>
        </p:txBody>
      </p:sp>
      <p:cxnSp>
        <p:nvCxnSpPr>
          <p:cNvPr id="10" name="Conector de Seta Reta 9"/>
          <p:cNvCxnSpPr>
            <a:stCxn id="11" idx="1"/>
          </p:cNvCxnSpPr>
          <p:nvPr/>
        </p:nvCxnSpPr>
        <p:spPr>
          <a:xfrm flipH="1">
            <a:off x="4267200" y="4895166"/>
            <a:ext cx="4267200" cy="5783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Retângulo 10"/>
          <p:cNvSpPr/>
          <p:nvPr/>
        </p:nvSpPr>
        <p:spPr>
          <a:xfrm>
            <a:off x="8534400" y="4572000"/>
            <a:ext cx="2667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Declaração de variável do tipo inteiro</a:t>
            </a:r>
          </a:p>
        </p:txBody>
      </p:sp>
    </p:spTree>
    <p:extLst>
      <p:ext uri="{BB962C8B-B14F-4D97-AF65-F5344CB8AC3E}">
        <p14:creationId xmlns:p14="http://schemas.microsoft.com/office/powerpoint/2010/main" val="1658073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1" y="491693"/>
            <a:ext cx="731487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kern="1200" spc="-130" dirty="0"/>
              <a:t>Tipos de Dados em Java</a:t>
            </a:r>
            <a:endParaRPr kern="1200" spc="-130"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207282"/>
              </p:ext>
            </p:extLst>
          </p:nvPr>
        </p:nvGraphicFramePr>
        <p:xfrm>
          <a:off x="1219200" y="2133600"/>
          <a:ext cx="9372599" cy="333756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448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8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49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/>
                        <a:t>Tipo</a:t>
                      </a:r>
                      <a:endParaRPr sz="1800">
                        <a:latin typeface="Consolas" panose="020B0609020204030204" pitchFamily="49" charset="0"/>
                        <a:cs typeface="Carlito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/>
                        <a:t>Tamanho</a:t>
                      </a:r>
                      <a:endParaRPr sz="1800">
                        <a:latin typeface="Consolas" panose="020B0609020204030204" pitchFamily="49" charset="0"/>
                        <a:cs typeface="Carlito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5" dirty="0"/>
                        <a:t>Uso/Valores</a:t>
                      </a:r>
                      <a:endParaRPr sz="1800">
                        <a:latin typeface="Consolas" panose="020B0609020204030204" pitchFamily="49" charset="0"/>
                        <a:cs typeface="Carlito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/>
                        <a:t>boolean</a:t>
                      </a:r>
                      <a:endParaRPr sz="1800">
                        <a:latin typeface="Consolas" panose="020B0609020204030204" pitchFamily="49" charset="0"/>
                        <a:cs typeface="Carlito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1</a:t>
                      </a:r>
                      <a:r>
                        <a:rPr sz="1800" spc="-10" dirty="0"/>
                        <a:t> </a:t>
                      </a:r>
                      <a:r>
                        <a:rPr sz="1800" spc="-5" dirty="0"/>
                        <a:t>bit</a:t>
                      </a:r>
                      <a:endParaRPr sz="1800">
                        <a:latin typeface="Consolas" panose="020B0609020204030204" pitchFamily="49" charset="0"/>
                        <a:cs typeface="Carlito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/>
                        <a:t>true </a:t>
                      </a:r>
                      <a:r>
                        <a:rPr sz="1800" dirty="0"/>
                        <a:t>/</a:t>
                      </a:r>
                      <a:r>
                        <a:rPr sz="1800" spc="15" dirty="0"/>
                        <a:t> </a:t>
                      </a:r>
                      <a:r>
                        <a:rPr sz="1800" spc="-10" dirty="0"/>
                        <a:t>false</a:t>
                      </a:r>
                      <a:endParaRPr sz="1800">
                        <a:latin typeface="Consolas" panose="020B0609020204030204" pitchFamily="49" charset="0"/>
                        <a:cs typeface="Carlito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/>
                        <a:t>byte</a:t>
                      </a:r>
                      <a:endParaRPr sz="1800">
                        <a:latin typeface="Consolas" panose="020B0609020204030204" pitchFamily="49" charset="0"/>
                        <a:cs typeface="Carlito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1</a:t>
                      </a:r>
                      <a:r>
                        <a:rPr sz="1800" spc="-10" dirty="0"/>
                        <a:t> byte</a:t>
                      </a:r>
                      <a:endParaRPr sz="1800">
                        <a:latin typeface="Consolas" panose="020B0609020204030204" pitchFamily="49" charset="0"/>
                        <a:cs typeface="Carlito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/>
                        <a:t>Inteiros </a:t>
                      </a:r>
                      <a:r>
                        <a:rPr sz="1800" dirty="0"/>
                        <a:t>de -127 a</a:t>
                      </a:r>
                      <a:r>
                        <a:rPr sz="1800" spc="20" dirty="0"/>
                        <a:t> </a:t>
                      </a:r>
                      <a:r>
                        <a:rPr sz="1800" dirty="0"/>
                        <a:t>128</a:t>
                      </a:r>
                      <a:endParaRPr sz="1800">
                        <a:latin typeface="Consolas" panose="020B0609020204030204" pitchFamily="49" charset="0"/>
                        <a:cs typeface="Carlito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/>
                        <a:t>short</a:t>
                      </a:r>
                      <a:endParaRPr sz="1800">
                        <a:latin typeface="Consolas" panose="020B0609020204030204" pitchFamily="49" charset="0"/>
                        <a:cs typeface="Carlito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2</a:t>
                      </a:r>
                      <a:r>
                        <a:rPr sz="1800" spc="-10" dirty="0"/>
                        <a:t> bytes</a:t>
                      </a:r>
                      <a:endParaRPr sz="1800">
                        <a:latin typeface="Consolas" panose="020B0609020204030204" pitchFamily="49" charset="0"/>
                        <a:cs typeface="Carlito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/>
                        <a:t>Inteiros </a:t>
                      </a:r>
                      <a:r>
                        <a:rPr sz="1800" dirty="0"/>
                        <a:t>de </a:t>
                      </a:r>
                      <a:r>
                        <a:rPr sz="1800" spc="-5" dirty="0"/>
                        <a:t>-32767 </a:t>
                      </a:r>
                      <a:r>
                        <a:rPr sz="1800" dirty="0"/>
                        <a:t>a</a:t>
                      </a:r>
                      <a:r>
                        <a:rPr sz="1800" spc="15" dirty="0"/>
                        <a:t> </a:t>
                      </a:r>
                      <a:r>
                        <a:rPr sz="1800" dirty="0"/>
                        <a:t>32768</a:t>
                      </a:r>
                      <a:endParaRPr sz="1800">
                        <a:latin typeface="Consolas" panose="020B0609020204030204" pitchFamily="49" charset="0"/>
                        <a:cs typeface="Carlito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/>
                        <a:t>char</a:t>
                      </a:r>
                      <a:endParaRPr sz="1800">
                        <a:latin typeface="Consolas" panose="020B0609020204030204" pitchFamily="49" charset="0"/>
                        <a:cs typeface="Carlito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2</a:t>
                      </a:r>
                      <a:r>
                        <a:rPr sz="1800" spc="-10" dirty="0"/>
                        <a:t> bytes</a:t>
                      </a:r>
                      <a:endParaRPr sz="1800">
                        <a:latin typeface="Consolas" panose="020B0609020204030204" pitchFamily="49" charset="0"/>
                        <a:cs typeface="Carlito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/>
                        <a:t>Códigos </a:t>
                      </a:r>
                      <a:r>
                        <a:rPr sz="1800" spc="-5" dirty="0"/>
                        <a:t>de </a:t>
                      </a:r>
                      <a:r>
                        <a:rPr sz="1800" spc="-15" dirty="0"/>
                        <a:t>caracteres </a:t>
                      </a:r>
                      <a:r>
                        <a:rPr sz="1800" spc="-10" dirty="0"/>
                        <a:t>(numéricos) </a:t>
                      </a:r>
                      <a:r>
                        <a:rPr sz="1800" spc="-105" dirty="0"/>
                        <a:t>– </a:t>
                      </a:r>
                      <a:r>
                        <a:rPr sz="1800" dirty="0"/>
                        <a:t>0 a</a:t>
                      </a:r>
                      <a:r>
                        <a:rPr sz="1800" spc="130" dirty="0"/>
                        <a:t> </a:t>
                      </a:r>
                      <a:r>
                        <a:rPr sz="1800" dirty="0"/>
                        <a:t>65535</a:t>
                      </a:r>
                      <a:endParaRPr sz="1800">
                        <a:latin typeface="Consolas" panose="020B0609020204030204" pitchFamily="49" charset="0"/>
                        <a:cs typeface="Carlito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/>
                        <a:t>int</a:t>
                      </a:r>
                      <a:endParaRPr sz="1800" dirty="0">
                        <a:latin typeface="Consolas" panose="020B0609020204030204" pitchFamily="49" charset="0"/>
                        <a:cs typeface="Carlito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/>
                        <a:t>4</a:t>
                      </a:r>
                      <a:r>
                        <a:rPr sz="1800" spc="-10" dirty="0"/>
                        <a:t> bytes</a:t>
                      </a:r>
                      <a:endParaRPr sz="1800">
                        <a:latin typeface="Consolas" panose="020B0609020204030204" pitchFamily="49" charset="0"/>
                        <a:cs typeface="Carlito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/>
                        <a:t>Inteiros </a:t>
                      </a:r>
                      <a:r>
                        <a:rPr sz="1800" spc="-15" dirty="0"/>
                        <a:t>(aprox. </a:t>
                      </a:r>
                      <a:r>
                        <a:rPr sz="1800" dirty="0"/>
                        <a:t>-2.000.000 a</a:t>
                      </a:r>
                      <a:r>
                        <a:rPr sz="1800" spc="15" dirty="0"/>
                        <a:t> </a:t>
                      </a:r>
                      <a:r>
                        <a:rPr sz="1800" spc="-5" dirty="0"/>
                        <a:t>+2.000.000)</a:t>
                      </a:r>
                      <a:endParaRPr sz="1800">
                        <a:latin typeface="Consolas" panose="020B0609020204030204" pitchFamily="49" charset="0"/>
                        <a:cs typeface="Carlito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/>
                        <a:t>float</a:t>
                      </a:r>
                      <a:endParaRPr sz="1800">
                        <a:latin typeface="Consolas" panose="020B0609020204030204" pitchFamily="49" charset="0"/>
                        <a:cs typeface="Carlito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/>
                        <a:t>4</a:t>
                      </a:r>
                      <a:r>
                        <a:rPr sz="1800" spc="-10" dirty="0"/>
                        <a:t> bytes</a:t>
                      </a:r>
                      <a:endParaRPr sz="1800">
                        <a:latin typeface="Consolas" panose="020B0609020204030204" pitchFamily="49" charset="0"/>
                        <a:cs typeface="Carlito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/>
                        <a:t>Ponto </a:t>
                      </a:r>
                      <a:r>
                        <a:rPr sz="1800" spc="-10" dirty="0"/>
                        <a:t>flutuante </a:t>
                      </a:r>
                      <a:r>
                        <a:rPr sz="1800" spc="-5" dirty="0"/>
                        <a:t>de simples</a:t>
                      </a:r>
                      <a:r>
                        <a:rPr sz="1800" spc="55" dirty="0"/>
                        <a:t> </a:t>
                      </a:r>
                      <a:r>
                        <a:rPr sz="1800" spc="-10" dirty="0"/>
                        <a:t>precisão</a:t>
                      </a:r>
                      <a:endParaRPr sz="1800">
                        <a:latin typeface="Consolas" panose="020B0609020204030204" pitchFamily="49" charset="0"/>
                        <a:cs typeface="Carlito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/>
                        <a:t>long</a:t>
                      </a:r>
                      <a:endParaRPr sz="1800" dirty="0">
                        <a:latin typeface="Consolas" panose="020B0609020204030204" pitchFamily="49" charset="0"/>
                        <a:cs typeface="Carlito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/>
                        <a:t>8</a:t>
                      </a:r>
                      <a:r>
                        <a:rPr sz="1800" spc="-10" dirty="0"/>
                        <a:t> bytes</a:t>
                      </a:r>
                      <a:endParaRPr sz="1800">
                        <a:latin typeface="Consolas" panose="020B0609020204030204" pitchFamily="49" charset="0"/>
                        <a:cs typeface="Carlito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/>
                        <a:t>Inteiros </a:t>
                      </a:r>
                      <a:r>
                        <a:rPr sz="1800" spc="-5" dirty="0"/>
                        <a:t>muito grandes</a:t>
                      </a:r>
                      <a:endParaRPr sz="1800">
                        <a:latin typeface="Consolas" panose="020B0609020204030204" pitchFamily="49" charset="0"/>
                        <a:cs typeface="Carlito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/>
                        <a:t>double</a:t>
                      </a:r>
                      <a:endParaRPr sz="1800">
                        <a:latin typeface="Consolas" panose="020B0609020204030204" pitchFamily="49" charset="0"/>
                        <a:cs typeface="Carlito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/>
                        <a:t>8</a:t>
                      </a:r>
                      <a:r>
                        <a:rPr sz="1800" spc="-10" dirty="0"/>
                        <a:t> bytes</a:t>
                      </a:r>
                      <a:endParaRPr sz="1800">
                        <a:latin typeface="Consolas" panose="020B0609020204030204" pitchFamily="49" charset="0"/>
                        <a:cs typeface="Carlito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/>
                        <a:t>Ponto </a:t>
                      </a:r>
                      <a:r>
                        <a:rPr sz="1800" spc="-10" dirty="0"/>
                        <a:t>flutuante </a:t>
                      </a:r>
                      <a:r>
                        <a:rPr sz="1800" spc="-5" dirty="0"/>
                        <a:t>de dupla</a:t>
                      </a:r>
                      <a:r>
                        <a:rPr sz="1800" spc="50" dirty="0"/>
                        <a:t> </a:t>
                      </a:r>
                      <a:r>
                        <a:rPr sz="1800" spc="-10" dirty="0"/>
                        <a:t>precisão</a:t>
                      </a:r>
                      <a:endParaRPr sz="1800" dirty="0">
                        <a:latin typeface="Consolas" panose="020B0609020204030204" pitchFamily="49" charset="0"/>
                        <a:cs typeface="Carlito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216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491693"/>
            <a:ext cx="905667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5" dirty="0">
                <a:solidFill>
                  <a:srgbClr val="000000"/>
                </a:solidFill>
                <a:latin typeface="Carlito"/>
                <a:cs typeface="Carlito"/>
              </a:rPr>
              <a:t>Atribuição </a:t>
            </a:r>
            <a:r>
              <a:rPr dirty="0">
                <a:solidFill>
                  <a:srgbClr val="000000"/>
                </a:solidFill>
                <a:latin typeface="Carlito"/>
                <a:cs typeface="Carlito"/>
              </a:rPr>
              <a:t>de </a:t>
            </a:r>
            <a:r>
              <a:rPr spc="-45" dirty="0">
                <a:solidFill>
                  <a:srgbClr val="000000"/>
                </a:solidFill>
                <a:latin typeface="Carlito"/>
                <a:cs typeface="Carlito"/>
              </a:rPr>
              <a:t>Valores </a:t>
            </a:r>
            <a:r>
              <a:rPr dirty="0">
                <a:solidFill>
                  <a:srgbClr val="000000"/>
                </a:solidFill>
                <a:latin typeface="Carlito"/>
                <a:cs typeface="Carlito"/>
              </a:rPr>
              <a:t>a</a:t>
            </a:r>
            <a:r>
              <a:rPr spc="20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pc="-40" dirty="0">
                <a:solidFill>
                  <a:srgbClr val="000000"/>
                </a:solidFill>
                <a:latin typeface="Carlito"/>
                <a:cs typeface="Carlito"/>
              </a:rPr>
              <a:t>Variáveis</a:t>
            </a:r>
            <a:endParaRPr dirty="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0600" y="1600200"/>
            <a:ext cx="6248400" cy="4801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pt-BR"/>
            </a:defPPr>
            <a:lvl1pPr marL="457200" indent="-457200">
              <a:buFont typeface="Courier New" panose="02070309020205020404" pitchFamily="49" charset="0"/>
              <a:buChar char="o"/>
              <a:defRPr sz="3200" b="0" i="0"/>
            </a:lvl1pPr>
            <a:lvl2pPr marL="914400" lvl="1" indent="-457200">
              <a:buFont typeface="Courier New" panose="02070309020205020404" pitchFamily="49" charset="0"/>
              <a:buChar char="o"/>
              <a:defRPr sz="2400"/>
            </a:lvl2pPr>
          </a:lstStyle>
          <a:p>
            <a:r>
              <a:rPr sz="2400" dirty="0" err="1">
                <a:latin typeface="Consolas" panose="020B0609020204030204" pitchFamily="49" charset="0"/>
              </a:rPr>
              <a:t>boolean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 err="1">
                <a:latin typeface="Consolas" panose="020B0609020204030204" pitchFamily="49" charset="0"/>
              </a:rPr>
              <a:t>resultado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=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true; </a:t>
            </a:r>
            <a:endParaRPr lang="pt-BR" sz="2400" dirty="0">
              <a:latin typeface="Consolas" panose="020B0609020204030204" pitchFamily="49" charset="0"/>
            </a:endParaRPr>
          </a:p>
          <a:p>
            <a:r>
              <a:rPr sz="2400" dirty="0">
                <a:latin typeface="Consolas" panose="020B0609020204030204" pitchFamily="49" charset="0"/>
              </a:rPr>
              <a:t>char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 err="1">
                <a:latin typeface="Consolas" panose="020B0609020204030204" pitchFamily="49" charset="0"/>
              </a:rPr>
              <a:t>cMaiusculo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=</a:t>
            </a:r>
            <a:r>
              <a:rPr lang="pt-BR" sz="2400" dirty="0">
                <a:latin typeface="Consolas" panose="020B0609020204030204" pitchFamily="49" charset="0"/>
              </a:rPr>
              <a:t> ‘</a:t>
            </a:r>
            <a:r>
              <a:rPr sz="2400" dirty="0">
                <a:latin typeface="Consolas" panose="020B0609020204030204" pitchFamily="49" charset="0"/>
              </a:rPr>
              <a:t>C</a:t>
            </a:r>
            <a:r>
              <a:rPr lang="pt-BR" sz="2400" dirty="0">
                <a:latin typeface="Consolas" panose="020B0609020204030204" pitchFamily="49" charset="0"/>
              </a:rPr>
              <a:t>'</a:t>
            </a:r>
            <a:r>
              <a:rPr sz="2400" dirty="0">
                <a:latin typeface="Consolas" panose="020B0609020204030204" pitchFamily="49" charset="0"/>
              </a:rPr>
              <a:t>;</a:t>
            </a:r>
            <a:endParaRPr lang="pt-BR" sz="2400" dirty="0">
              <a:latin typeface="Consolas" panose="020B0609020204030204" pitchFamily="49" charset="0"/>
            </a:endParaRPr>
          </a:p>
          <a:p>
            <a:r>
              <a:rPr sz="2400" dirty="0">
                <a:latin typeface="Consolas" panose="020B0609020204030204" pitchFamily="49" charset="0"/>
              </a:rPr>
              <a:t>byte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b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=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100;</a:t>
            </a:r>
          </a:p>
          <a:p>
            <a:r>
              <a:rPr sz="2400" dirty="0">
                <a:latin typeface="Consolas" panose="020B0609020204030204" pitchFamily="49" charset="0"/>
              </a:rPr>
              <a:t>short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s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=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10000;</a:t>
            </a:r>
            <a:endParaRPr lang="pt-BR" sz="2400" dirty="0">
              <a:latin typeface="Consolas" panose="020B0609020204030204" pitchFamily="49" charset="0"/>
            </a:endParaRPr>
          </a:p>
          <a:p>
            <a:r>
              <a:rPr lang="pt-BR" sz="2400" dirty="0">
                <a:latin typeface="Consolas" panose="020B0609020204030204" pitchFamily="49" charset="0"/>
              </a:rPr>
              <a:t>i</a:t>
            </a:r>
            <a:r>
              <a:rPr sz="2400" dirty="0" err="1">
                <a:latin typeface="Consolas" panose="020B0609020204030204" pitchFamily="49" charset="0"/>
              </a:rPr>
              <a:t>nt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 err="1">
                <a:latin typeface="Consolas" panose="020B0609020204030204" pitchFamily="49" charset="0"/>
              </a:rPr>
              <a:t>i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=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100000;</a:t>
            </a:r>
            <a:endParaRPr lang="pt-BR" sz="2400" dirty="0">
              <a:latin typeface="Consolas" panose="020B0609020204030204" pitchFamily="49" charset="0"/>
            </a:endParaRPr>
          </a:p>
          <a:p>
            <a:r>
              <a:rPr sz="2400" dirty="0">
                <a:latin typeface="Consolas" panose="020B0609020204030204" pitchFamily="49" charset="0"/>
              </a:rPr>
              <a:t>long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l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=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100L</a:t>
            </a:r>
            <a:endParaRPr lang="pt-BR" sz="2400" dirty="0">
              <a:latin typeface="Consolas" panose="020B0609020204030204" pitchFamily="49" charset="0"/>
            </a:endParaRPr>
          </a:p>
          <a:p>
            <a:r>
              <a:rPr sz="2400" dirty="0">
                <a:latin typeface="Consolas" panose="020B0609020204030204" pitchFamily="49" charset="0"/>
              </a:rPr>
              <a:t>float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f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=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123.4f</a:t>
            </a:r>
            <a:endParaRPr lang="pt-BR" sz="2400" dirty="0">
              <a:latin typeface="Consolas" panose="020B0609020204030204" pitchFamily="49" charset="0"/>
            </a:endParaRPr>
          </a:p>
          <a:p>
            <a:r>
              <a:rPr sz="2400" dirty="0">
                <a:latin typeface="Consolas" panose="020B0609020204030204" pitchFamily="49" charset="0"/>
              </a:rPr>
              <a:t>double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d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=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123.4</a:t>
            </a:r>
          </a:p>
          <a:p>
            <a:endParaRPr sz="2400" dirty="0">
              <a:latin typeface="Consolas" panose="020B0609020204030204" pitchFamily="49" charset="0"/>
            </a:endParaRPr>
          </a:p>
          <a:p>
            <a:r>
              <a:rPr sz="2400" dirty="0" err="1">
                <a:latin typeface="Consolas" panose="020B0609020204030204" pitchFamily="49" charset="0"/>
              </a:rPr>
              <a:t>int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decimal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=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26;</a:t>
            </a:r>
          </a:p>
          <a:p>
            <a:r>
              <a:rPr sz="2400" dirty="0" err="1">
                <a:latin typeface="Consolas" panose="020B0609020204030204" pitchFamily="49" charset="0"/>
              </a:rPr>
              <a:t>int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hexadecimal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=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0x1a;</a:t>
            </a:r>
          </a:p>
          <a:p>
            <a:r>
              <a:rPr sz="2400" dirty="0" err="1">
                <a:latin typeface="Consolas" panose="020B0609020204030204" pitchFamily="49" charset="0"/>
              </a:rPr>
              <a:t>int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octal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=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032;</a:t>
            </a:r>
          </a:p>
          <a:p>
            <a:r>
              <a:rPr sz="2400" dirty="0" err="1">
                <a:latin typeface="Consolas" panose="020B0609020204030204" pitchFamily="49" charset="0"/>
              </a:rPr>
              <a:t>int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bin</a:t>
            </a:r>
            <a:r>
              <a:rPr lang="pt-BR" sz="2400" dirty="0">
                <a:latin typeface="Consolas" panose="020B0609020204030204" pitchFamily="49" charset="0"/>
              </a:rPr>
              <a:t>á</a:t>
            </a:r>
            <a:r>
              <a:rPr sz="2400" dirty="0" err="1">
                <a:latin typeface="Consolas" panose="020B0609020204030204" pitchFamily="49" charset="0"/>
              </a:rPr>
              <a:t>rio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=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0b11010;</a:t>
            </a:r>
          </a:p>
        </p:txBody>
      </p:sp>
    </p:spTree>
    <p:extLst>
      <p:ext uri="{BB962C8B-B14F-4D97-AF65-F5344CB8AC3E}">
        <p14:creationId xmlns:p14="http://schemas.microsoft.com/office/powerpoint/2010/main" val="3104461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592" y="3276600"/>
            <a:ext cx="6324600" cy="30099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491693"/>
            <a:ext cx="843818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lang="pt-BR" kern="1200" spc="-130" dirty="0"/>
              <a:t>Constantes em Java</a:t>
            </a:r>
            <a:endParaRPr kern="1200" spc="-130" dirty="0"/>
          </a:p>
        </p:txBody>
      </p:sp>
      <p:sp>
        <p:nvSpPr>
          <p:cNvPr id="9" name="Retângulo 8"/>
          <p:cNvSpPr/>
          <p:nvPr/>
        </p:nvSpPr>
        <p:spPr>
          <a:xfrm>
            <a:off x="914400" y="1432217"/>
            <a:ext cx="8991600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pt-BR" sz="3200" dirty="0"/>
              <a:t>Constante = Não varia</a:t>
            </a:r>
          </a:p>
          <a:p>
            <a:pPr lvl="1"/>
            <a:r>
              <a:rPr lang="pt-BR" sz="3200" dirty="0"/>
              <a:t>	final </a:t>
            </a:r>
            <a:r>
              <a:rPr lang="pt-BR" sz="3200" dirty="0" err="1"/>
              <a:t>tipoDeDado</a:t>
            </a:r>
            <a:r>
              <a:rPr lang="pt-BR" sz="3200" dirty="0"/>
              <a:t> </a:t>
            </a:r>
            <a:r>
              <a:rPr lang="pt-BR" sz="3200" dirty="0" err="1"/>
              <a:t>valorPermanente</a:t>
            </a:r>
            <a:r>
              <a:rPr lang="pt-BR" sz="3200" dirty="0"/>
              <a:t>;</a:t>
            </a:r>
          </a:p>
        </p:txBody>
      </p:sp>
      <p:cxnSp>
        <p:nvCxnSpPr>
          <p:cNvPr id="10" name="Conector de Seta Reta 9"/>
          <p:cNvCxnSpPr>
            <a:stCxn id="11" idx="1"/>
          </p:cNvCxnSpPr>
          <p:nvPr/>
        </p:nvCxnSpPr>
        <p:spPr>
          <a:xfrm flipH="1">
            <a:off x="6858000" y="4895166"/>
            <a:ext cx="1676400" cy="5783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Retângulo 10"/>
          <p:cNvSpPr/>
          <p:nvPr/>
        </p:nvSpPr>
        <p:spPr>
          <a:xfrm>
            <a:off x="8534400" y="4572000"/>
            <a:ext cx="2667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Declaração de variável do tipo </a:t>
            </a:r>
            <a:r>
              <a:rPr lang="pt-BR" dirty="0" err="1"/>
              <a:t>float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824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1" y="491693"/>
            <a:ext cx="667987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kern="1200" spc="-130" dirty="0"/>
              <a:t>Comentários em Java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4400" y="1752600"/>
            <a:ext cx="10363200" cy="3939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pt-BR"/>
            </a:defPPr>
            <a:lvl1pPr marL="457200" indent="-457200">
              <a:buFont typeface="Courier New" panose="02070309020205020404" pitchFamily="49" charset="0"/>
              <a:buChar char="o"/>
              <a:defRPr sz="3200"/>
            </a:lvl1pPr>
          </a:lstStyle>
          <a:p>
            <a:r>
              <a:rPr lang="pt-BR" dirty="0"/>
              <a:t>Linha simples:</a:t>
            </a:r>
          </a:p>
          <a:p>
            <a:pPr marL="0" indent="0">
              <a:buNone/>
            </a:pPr>
            <a:r>
              <a:rPr lang="pt-BR" dirty="0"/>
              <a:t>	</a:t>
            </a:r>
            <a:r>
              <a:rPr dirty="0"/>
              <a:t>// Este é um comentário de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linha</a:t>
            </a:r>
            <a:endParaRPr lang="pt-BR" dirty="0"/>
          </a:p>
          <a:p>
            <a:endParaRPr dirty="0"/>
          </a:p>
          <a:p>
            <a:r>
              <a:rPr dirty="0"/>
              <a:t>Múltiplas linhas:</a:t>
            </a:r>
          </a:p>
          <a:p>
            <a:pPr marL="0" indent="0">
              <a:buNone/>
            </a:pPr>
            <a:r>
              <a:rPr lang="pt-BR" dirty="0"/>
              <a:t>	</a:t>
            </a:r>
            <a:r>
              <a:rPr dirty="0"/>
              <a:t>/* Este é um comentário de  Múltiplas </a:t>
            </a:r>
            <a:r>
              <a:rPr dirty="0" err="1"/>
              <a:t>linhas</a:t>
            </a:r>
            <a:r>
              <a:rPr dirty="0"/>
              <a:t> */</a:t>
            </a:r>
            <a:endParaRPr lang="pt-BR" dirty="0"/>
          </a:p>
          <a:p>
            <a:pPr marL="0" indent="0">
              <a:buNone/>
            </a:pPr>
            <a:endParaRPr dirty="0"/>
          </a:p>
          <a:p>
            <a:r>
              <a:rPr dirty="0"/>
              <a:t>Ou ainda...</a:t>
            </a:r>
          </a:p>
          <a:p>
            <a:pPr marL="0" indent="0">
              <a:buNone/>
            </a:pPr>
            <a:r>
              <a:rPr lang="pt-BR" dirty="0"/>
              <a:t>	</a:t>
            </a:r>
            <a:r>
              <a:rPr dirty="0"/>
              <a:t>/** Este é um comentário de  Múltiplas linhas */</a:t>
            </a:r>
          </a:p>
        </p:txBody>
      </p:sp>
    </p:spTree>
    <p:extLst>
      <p:ext uri="{BB962C8B-B14F-4D97-AF65-F5344CB8AC3E}">
        <p14:creationId xmlns:p14="http://schemas.microsoft.com/office/powerpoint/2010/main" val="3736727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1" y="491693"/>
            <a:ext cx="645508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kern="1200" spc="-130" dirty="0"/>
              <a:t>Operadores em 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430844"/>
            <a:ext cx="9829800" cy="3939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pt-BR"/>
            </a:defPPr>
            <a:lvl1pPr marL="457200" indent="-457200">
              <a:buFont typeface="Courier New" panose="02070309020205020404" pitchFamily="49" charset="0"/>
              <a:buChar char="o"/>
              <a:defRPr sz="3200"/>
            </a:lvl1pPr>
          </a:lstStyle>
          <a:p>
            <a:r>
              <a:rPr dirty="0" err="1"/>
              <a:t>Operadores</a:t>
            </a:r>
            <a:r>
              <a:rPr dirty="0"/>
              <a:t> </a:t>
            </a:r>
            <a:r>
              <a:rPr dirty="0" err="1"/>
              <a:t>Aritméticos</a:t>
            </a:r>
            <a:endParaRPr lang="pt-BR" dirty="0"/>
          </a:p>
          <a:p>
            <a:endParaRPr lang="pt-BR" dirty="0"/>
          </a:p>
          <a:p>
            <a:pPr marL="0" indent="0" algn="ctr">
              <a:buNone/>
            </a:pPr>
            <a:r>
              <a:rPr lang="pt-BR" dirty="0"/>
              <a:t>+		-		*		/		%</a:t>
            </a:r>
          </a:p>
          <a:p>
            <a:pPr marL="0" indent="0" algn="ctr">
              <a:buNone/>
            </a:pPr>
            <a:endParaRPr lang="pt-BR" dirty="0"/>
          </a:p>
          <a:p>
            <a:r>
              <a:rPr lang="pt-BR" dirty="0"/>
              <a:t>Expressões mais complexas: utilizar parênteses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>
                <a:latin typeface="Consolas" panose="020B0609020204030204" pitchFamily="49" charset="0"/>
              </a:rPr>
              <a:t>	</a:t>
            </a:r>
          </a:p>
          <a:p>
            <a:pPr marL="0" indent="0">
              <a:buNone/>
            </a:pPr>
            <a:r>
              <a:rPr lang="pt-BR" dirty="0">
                <a:latin typeface="Consolas" panose="020B0609020204030204" pitchFamily="49" charset="0"/>
              </a:rPr>
              <a:t>	</a:t>
            </a:r>
            <a:r>
              <a:rPr lang="pt-BR" dirty="0" err="1">
                <a:latin typeface="Consolas" panose="020B0609020204030204" pitchFamily="49" charset="0"/>
              </a:rPr>
              <a:t>double</a:t>
            </a:r>
            <a:r>
              <a:rPr lang="pt-BR" dirty="0">
                <a:latin typeface="Consolas" panose="020B0609020204030204" pitchFamily="49" charset="0"/>
              </a:rPr>
              <a:t> x = (10+2)/(3*5-(4+2));</a:t>
            </a:r>
            <a:endParaRPr dirty="0">
              <a:latin typeface="Consolas" panose="020B0609020204030204" pitchFamily="49" charset="0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1447800" y="2209800"/>
            <a:ext cx="838200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5554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1" y="491693"/>
            <a:ext cx="645508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kern="1200" spc="-130" dirty="0"/>
              <a:t>Operadores em Java</a:t>
            </a:r>
          </a:p>
        </p:txBody>
      </p:sp>
      <p:sp>
        <p:nvSpPr>
          <p:cNvPr id="21" name="object 3"/>
          <p:cNvSpPr txBox="1"/>
          <p:nvPr/>
        </p:nvSpPr>
        <p:spPr>
          <a:xfrm>
            <a:off x="685800" y="1430844"/>
            <a:ext cx="10896600" cy="44319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pt-BR"/>
            </a:defPPr>
            <a:lvl1pPr marL="457200" indent="-457200">
              <a:buFont typeface="Courier New" panose="02070309020205020404" pitchFamily="49" charset="0"/>
              <a:buChar char="o"/>
              <a:defRPr sz="3200"/>
            </a:lvl1pPr>
          </a:lstStyle>
          <a:p>
            <a:r>
              <a:rPr dirty="0" err="1"/>
              <a:t>Operadores</a:t>
            </a:r>
            <a:r>
              <a:rPr dirty="0"/>
              <a:t> </a:t>
            </a:r>
            <a:r>
              <a:rPr lang="pt-BR" dirty="0"/>
              <a:t>Relacionais</a:t>
            </a:r>
          </a:p>
          <a:p>
            <a:endParaRPr lang="pt-BR" dirty="0"/>
          </a:p>
          <a:p>
            <a:pPr marL="0" indent="0" algn="ctr">
              <a:buNone/>
            </a:pPr>
            <a:r>
              <a:rPr lang="pt-BR" dirty="0"/>
              <a:t>==		!=		&gt;		&lt;		&lt;=		&gt;=</a:t>
            </a:r>
          </a:p>
          <a:p>
            <a:pPr marL="0" indent="0" algn="ctr">
              <a:buNone/>
            </a:pPr>
            <a:endParaRPr lang="pt-BR" dirty="0"/>
          </a:p>
          <a:p>
            <a:endParaRPr lang="pt-BR" dirty="0"/>
          </a:p>
          <a:p>
            <a:r>
              <a:rPr lang="pt-BR" dirty="0"/>
              <a:t>Operadores Lógicos</a:t>
            </a:r>
          </a:p>
          <a:p>
            <a:endParaRPr lang="pt-BR" dirty="0"/>
          </a:p>
          <a:p>
            <a:pPr marL="0" indent="0" algn="ctr">
              <a:buNone/>
            </a:pPr>
            <a:r>
              <a:rPr lang="pt-BR" dirty="0"/>
              <a:t>||		^		&amp;&amp;		!</a:t>
            </a:r>
          </a:p>
          <a:p>
            <a:pPr marL="0" indent="0" algn="ctr">
              <a:buNone/>
            </a:pPr>
            <a:endParaRPr lang="pt-BR" dirty="0"/>
          </a:p>
        </p:txBody>
      </p:sp>
      <p:sp>
        <p:nvSpPr>
          <p:cNvPr id="22" name="Retângulo 21"/>
          <p:cNvSpPr/>
          <p:nvPr/>
        </p:nvSpPr>
        <p:spPr>
          <a:xfrm>
            <a:off x="3147695" y="5382052"/>
            <a:ext cx="61061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OU	           OU Exclusivo		    E		Não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1066800" y="2209800"/>
            <a:ext cx="1028700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/>
          <p:cNvSpPr/>
          <p:nvPr/>
        </p:nvSpPr>
        <p:spPr>
          <a:xfrm>
            <a:off x="2590800" y="4652317"/>
            <a:ext cx="7239000" cy="13476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4307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1" y="491693"/>
            <a:ext cx="676623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kern="1200" spc="-130" dirty="0"/>
              <a:t>Estruturas de Decisão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1681204"/>
            <a:ext cx="5631993" cy="5059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pt-BR"/>
            </a:defPPr>
            <a:lvl1pPr marL="457200" indent="-457200">
              <a:buFont typeface="Courier New" panose="02070309020205020404" pitchFamily="49" charset="0"/>
              <a:buChar char="o"/>
              <a:defRPr sz="3200"/>
            </a:lvl1pPr>
            <a:lvl2pPr lvl="1">
              <a:defRPr sz="3200"/>
            </a:lvl2pPr>
          </a:lstStyle>
          <a:p>
            <a:r>
              <a:rPr dirty="0"/>
              <a:t>if ~ else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438400"/>
            <a:ext cx="8153400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37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491693"/>
            <a:ext cx="584611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kern="1200" spc="-130" dirty="0"/>
              <a:t>Formas Diferentes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8062" y="1841258"/>
            <a:ext cx="8897937" cy="222945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433070" algn="l"/>
                <a:tab pos="1270635" algn="l"/>
                <a:tab pos="1688464" algn="l"/>
                <a:tab pos="2388870" algn="l"/>
              </a:tabLst>
            </a:pPr>
            <a:r>
              <a:rPr lang="pt-BR" sz="2400" spc="600" dirty="0">
                <a:latin typeface="Consolas" panose="020B0609020204030204" pitchFamily="49" charset="0"/>
                <a:cs typeface="Arial"/>
              </a:rPr>
              <a:t>i</a:t>
            </a:r>
            <a:r>
              <a:rPr sz="2400" spc="600" dirty="0">
                <a:latin typeface="Consolas" panose="020B0609020204030204" pitchFamily="49" charset="0"/>
                <a:cs typeface="Arial"/>
              </a:rPr>
              <a:t>f</a:t>
            </a:r>
            <a:r>
              <a:rPr lang="pt-BR" sz="2400" spc="600" dirty="0">
                <a:latin typeface="Consolas" panose="020B0609020204030204" pitchFamily="49" charset="0"/>
                <a:cs typeface="Arial"/>
              </a:rPr>
              <a:t> </a:t>
            </a:r>
            <a:r>
              <a:rPr sz="2400" spc="185" dirty="0">
                <a:latin typeface="Consolas" panose="020B0609020204030204" pitchFamily="49" charset="0"/>
                <a:cs typeface="Arial"/>
              </a:rPr>
              <a:t>(nota</a:t>
            </a:r>
            <a:r>
              <a:rPr lang="pt-BR" sz="2400" spc="185" dirty="0">
                <a:latin typeface="Consolas" panose="020B0609020204030204" pitchFamily="49" charset="0"/>
                <a:cs typeface="Arial"/>
              </a:rPr>
              <a:t> </a:t>
            </a:r>
            <a:r>
              <a:rPr sz="2400" spc="-75" dirty="0">
                <a:latin typeface="Consolas" panose="020B0609020204030204" pitchFamily="49" charset="0"/>
                <a:cs typeface="Arial"/>
              </a:rPr>
              <a:t>&gt;=</a:t>
            </a:r>
            <a:r>
              <a:rPr lang="pt-BR" sz="2400" spc="-75" dirty="0">
                <a:latin typeface="Consolas" panose="020B0609020204030204" pitchFamily="49" charset="0"/>
                <a:cs typeface="Arial"/>
              </a:rPr>
              <a:t> </a:t>
            </a:r>
            <a:r>
              <a:rPr sz="2400" spc="240" dirty="0">
                <a:latin typeface="Consolas" panose="020B0609020204030204" pitchFamily="49" charset="0"/>
                <a:cs typeface="Arial"/>
              </a:rPr>
              <a:t>6.0)</a:t>
            </a:r>
            <a:r>
              <a:rPr lang="pt-BR" sz="2400" spc="240" dirty="0">
                <a:latin typeface="Consolas" panose="020B0609020204030204" pitchFamily="49" charset="0"/>
                <a:cs typeface="Arial"/>
              </a:rPr>
              <a:t> </a:t>
            </a:r>
            <a:r>
              <a:rPr sz="2400" spc="430" dirty="0">
                <a:latin typeface="Consolas" panose="020B0609020204030204" pitchFamily="49" charset="0"/>
                <a:cs typeface="Arial"/>
              </a:rPr>
              <a:t>{</a:t>
            </a:r>
            <a:endParaRPr sz="2400" dirty="0">
              <a:latin typeface="Consolas" panose="020B0609020204030204" pitchFamily="49" charset="0"/>
              <a:cs typeface="Arial"/>
            </a:endParaRPr>
          </a:p>
          <a:p>
            <a:pPr marL="926465"/>
            <a:r>
              <a:rPr sz="2400" spc="200" dirty="0">
                <a:latin typeface="Consolas" panose="020B0609020204030204" pitchFamily="49" charset="0"/>
                <a:cs typeface="Arial"/>
              </a:rPr>
              <a:t>System.out.println(“Aprovado”);</a:t>
            </a:r>
            <a:endParaRPr sz="2400" dirty="0">
              <a:latin typeface="Consolas" panose="020B0609020204030204" pitchFamily="49" charset="0"/>
              <a:cs typeface="Arial"/>
            </a:endParaRPr>
          </a:p>
          <a:p>
            <a:pPr marL="12700"/>
            <a:r>
              <a:rPr sz="2400" spc="430" dirty="0">
                <a:latin typeface="Consolas" panose="020B0609020204030204" pitchFamily="49" charset="0"/>
                <a:cs typeface="Arial"/>
              </a:rPr>
              <a:t>}</a:t>
            </a:r>
            <a:endParaRPr sz="2400" dirty="0">
              <a:latin typeface="Consolas" panose="020B0609020204030204" pitchFamily="49" charset="0"/>
              <a:cs typeface="Arial"/>
            </a:endParaRPr>
          </a:p>
          <a:p>
            <a:pPr marL="12700">
              <a:tabLst>
                <a:tab pos="711835" algn="l"/>
              </a:tabLst>
            </a:pPr>
            <a:r>
              <a:rPr sz="2400" spc="180" dirty="0">
                <a:latin typeface="Consolas" panose="020B0609020204030204" pitchFamily="49" charset="0"/>
                <a:cs typeface="Arial"/>
              </a:rPr>
              <a:t>else	</a:t>
            </a:r>
            <a:r>
              <a:rPr sz="2400" spc="430" dirty="0">
                <a:latin typeface="Consolas" panose="020B0609020204030204" pitchFamily="49" charset="0"/>
                <a:cs typeface="Arial"/>
              </a:rPr>
              <a:t>{</a:t>
            </a:r>
            <a:endParaRPr sz="2400" dirty="0">
              <a:latin typeface="Consolas" panose="020B0609020204030204" pitchFamily="49" charset="0"/>
              <a:cs typeface="Arial"/>
            </a:endParaRPr>
          </a:p>
          <a:p>
            <a:pPr marL="926465"/>
            <a:r>
              <a:rPr sz="2400" spc="190" dirty="0">
                <a:latin typeface="Consolas" panose="020B0609020204030204" pitchFamily="49" charset="0"/>
                <a:cs typeface="Arial"/>
              </a:rPr>
              <a:t>System.out.println(“Reprovado”);</a:t>
            </a:r>
            <a:endParaRPr sz="2400" dirty="0">
              <a:latin typeface="Consolas" panose="020B0609020204030204" pitchFamily="49" charset="0"/>
              <a:cs typeface="Arial"/>
            </a:endParaRPr>
          </a:p>
          <a:p>
            <a:pPr marL="12700"/>
            <a:r>
              <a:rPr sz="2400" spc="434" dirty="0">
                <a:latin typeface="Consolas" panose="020B0609020204030204" pitchFamily="49" charset="0"/>
                <a:cs typeface="Arial"/>
              </a:rPr>
              <a:t>}</a:t>
            </a:r>
            <a:endParaRPr sz="2400" dirty="0">
              <a:latin typeface="Consolas" panose="020B0609020204030204" pitchFamily="49" charset="0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8062" y="4953000"/>
            <a:ext cx="11031538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lang="pt-BR"/>
            </a:defPPr>
            <a:lvl1pPr marL="12700">
              <a:spcBef>
                <a:spcPts val="105"/>
              </a:spcBef>
              <a:tabLst>
                <a:tab pos="433070" algn="l"/>
                <a:tab pos="1270635" algn="l"/>
                <a:tab pos="1688464" algn="l"/>
                <a:tab pos="2388870" algn="l"/>
              </a:tabLst>
              <a:defRPr sz="2800" spc="600">
                <a:latin typeface="Consolas" panose="020B0609020204030204" pitchFamily="49" charset="0"/>
                <a:cs typeface="Arial"/>
              </a:defRPr>
            </a:lvl1pPr>
          </a:lstStyle>
          <a:p>
            <a:r>
              <a:rPr lang="pt-BR" sz="2400" dirty="0" err="1"/>
              <a:t>System.out.println</a:t>
            </a:r>
            <a:r>
              <a:rPr lang="pt-BR" sz="2400" dirty="0"/>
              <a:t>(nota&gt;=6.0 ? "Aprovado" : "Reprovado");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764274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1" y="491693"/>
            <a:ext cx="77708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kern="1200" spc="-130" dirty="0"/>
              <a:t>Aninhamento de Decisões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600200"/>
            <a:ext cx="7772400" cy="481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327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491693"/>
            <a:ext cx="688497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kern="1200" spc="-130" dirty="0"/>
              <a:t>Estruturas de Seleção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491002"/>
            <a:ext cx="527875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pt-BR"/>
            </a:defPPr>
            <a:lvl1pPr marL="457200" indent="-457200">
              <a:buFont typeface="Courier New" panose="02070309020205020404" pitchFamily="49" charset="0"/>
              <a:buChar char="o"/>
              <a:defRPr sz="3200"/>
            </a:lvl1pPr>
            <a:lvl2pPr lvl="1">
              <a:defRPr sz="3200"/>
            </a:lvl2pPr>
          </a:lstStyle>
          <a:p>
            <a:r>
              <a:rPr dirty="0"/>
              <a:t>switch ~ case</a:t>
            </a:r>
            <a:r>
              <a:rPr lang="pt-BR" dirty="0"/>
              <a:t> </a:t>
            </a:r>
            <a:endParaRPr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71600"/>
            <a:ext cx="8430037" cy="535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475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3401" y="491693"/>
            <a:ext cx="73263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kern="1200" spc="-130" dirty="0"/>
              <a:t>Estruturas de Repetição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3401" y="1494532"/>
            <a:ext cx="399478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pt-BR"/>
            </a:defPPr>
            <a:lvl1pPr marL="457200" indent="-457200">
              <a:buFont typeface="Courier New" panose="02070309020205020404" pitchFamily="49" charset="0"/>
              <a:buChar char="o"/>
              <a:defRPr sz="3200"/>
            </a:lvl1pPr>
            <a:lvl2pPr lvl="1">
              <a:defRPr sz="3200"/>
            </a:lvl2pPr>
          </a:lstStyle>
          <a:p>
            <a:r>
              <a:rPr dirty="0"/>
              <a:t>while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133600"/>
            <a:ext cx="642937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70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1" y="491693"/>
            <a:ext cx="70977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kern="1200" spc="-130" dirty="0"/>
              <a:t>Estruturas de Repetição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1531442"/>
            <a:ext cx="5010607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pt-BR"/>
            </a:defPPr>
            <a:lvl1pPr marL="457200" indent="-457200">
              <a:buFont typeface="Courier New" panose="02070309020205020404" pitchFamily="49" charset="0"/>
              <a:buChar char="o"/>
              <a:defRPr sz="3200"/>
            </a:lvl1pPr>
            <a:lvl2pPr lvl="1">
              <a:defRPr sz="3200"/>
            </a:lvl2pPr>
          </a:lstStyle>
          <a:p>
            <a:r>
              <a:rPr dirty="0"/>
              <a:t>for</a:t>
            </a: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286000"/>
            <a:ext cx="6448425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5048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09601" y="491693"/>
            <a:ext cx="72501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kern="1200" spc="-130" dirty="0"/>
              <a:t>Estruturas de Repetição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62000" y="1531442"/>
            <a:ext cx="6426657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pt-BR"/>
            </a:defPPr>
            <a:lvl1pPr marL="457200" indent="-457200">
              <a:buFont typeface="Courier New" panose="02070309020205020404" pitchFamily="49" charset="0"/>
              <a:buChar char="o"/>
              <a:defRPr sz="3200"/>
            </a:lvl1pPr>
            <a:lvl2pPr lvl="1">
              <a:defRPr sz="3200"/>
            </a:lvl2pPr>
          </a:lstStyle>
          <a:p>
            <a:r>
              <a:rPr dirty="0"/>
              <a:t>do ~ while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2286000"/>
            <a:ext cx="6753225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6614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491693"/>
            <a:ext cx="787303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kern="1200" spc="-130" dirty="0"/>
              <a:t>Variáveis para Texto: String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1600" y="1752600"/>
            <a:ext cx="9525000" cy="35702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pt-BR"/>
            </a:defPPr>
            <a:lvl1pPr marL="457200" indent="-457200">
              <a:buFont typeface="Courier New" panose="02070309020205020404" pitchFamily="49" charset="0"/>
              <a:buChar char="o"/>
              <a:defRPr sz="3200"/>
            </a:lvl1pPr>
            <a:lvl2pPr lvl="1">
              <a:defRPr sz="3200"/>
            </a:lvl2pPr>
          </a:lstStyle>
          <a:p>
            <a:r>
              <a:rPr dirty="0"/>
              <a:t>Texto: mais complexo que número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sz="2800" dirty="0"/>
              <a:t>Tamanho variável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sz="2800" dirty="0"/>
              <a:t>Comprimento / Indicação de final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Exemplo:</a:t>
            </a:r>
          </a:p>
          <a:p>
            <a:pPr marL="0" indent="0">
              <a:buNone/>
            </a:pPr>
            <a:endParaRPr lang="pt-BR" dirty="0"/>
          </a:p>
          <a:p>
            <a:pPr marL="457200" lvl="2"/>
            <a:r>
              <a:rPr sz="2400" dirty="0">
                <a:latin typeface="Consolas" panose="020B0609020204030204" pitchFamily="49" charset="0"/>
              </a:rPr>
              <a:t>String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 err="1">
                <a:latin typeface="Consolas" panose="020B0609020204030204" pitchFamily="49" charset="0"/>
              </a:rPr>
              <a:t>umTexto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=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“Meu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sz="2400" dirty="0" err="1">
                <a:latin typeface="Consolas" panose="020B0609020204030204" pitchFamily="49" charset="0"/>
              </a:rPr>
              <a:t>Texto</a:t>
            </a:r>
            <a:r>
              <a:rPr sz="2400" dirty="0">
                <a:latin typeface="Consolas" panose="020B0609020204030204" pitchFamily="49" charset="0"/>
              </a:rPr>
              <a:t>”;</a:t>
            </a:r>
            <a:endParaRPr lang="pt-BR" sz="2400" dirty="0">
              <a:latin typeface="Consolas" panose="020B0609020204030204" pitchFamily="49" charset="0"/>
            </a:endParaRPr>
          </a:p>
          <a:p>
            <a:pPr marL="457200" lvl="2"/>
            <a:r>
              <a:rPr sz="2400" dirty="0" err="1">
                <a:latin typeface="Consolas" panose="020B0609020204030204" pitchFamily="49" charset="0"/>
              </a:rPr>
              <a:t>System.out.println</a:t>
            </a:r>
            <a:r>
              <a:rPr sz="2400" dirty="0">
                <a:latin typeface="Consolas" panose="020B0609020204030204" pitchFamily="49" charset="0"/>
              </a:rPr>
              <a:t>(</a:t>
            </a:r>
            <a:r>
              <a:rPr sz="2400" dirty="0" err="1">
                <a:latin typeface="Consolas" panose="020B0609020204030204" pitchFamily="49" charset="0"/>
              </a:rPr>
              <a:t>umTexto</a:t>
            </a:r>
            <a:r>
              <a:rPr sz="2400" dirty="0"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000758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09600" y="491693"/>
            <a:ext cx="567720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lang="pt-BR" kern="1200" spc="-130" dirty="0"/>
              <a:t>Concatenando</a:t>
            </a:r>
            <a:r>
              <a:rPr kern="1200" spc="-130" dirty="0"/>
              <a:t> Strings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905000"/>
            <a:ext cx="7315200" cy="436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7864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609600" y="491693"/>
            <a:ext cx="567720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lang="pt-BR" kern="1200" spc="-130" dirty="0"/>
              <a:t>Concatenando</a:t>
            </a:r>
            <a:r>
              <a:rPr kern="1200" spc="-130" dirty="0"/>
              <a:t> Strings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2057400"/>
            <a:ext cx="7991089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30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491693"/>
            <a:ext cx="578769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kern="1200" spc="-130" dirty="0"/>
              <a:t>Entrada de Dados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1676400"/>
            <a:ext cx="9372600" cy="40453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pt-BR"/>
            </a:defPPr>
            <a:lvl1pPr marL="457200" indent="-457200">
              <a:buFont typeface="Courier New" panose="02070309020205020404" pitchFamily="49" charset="0"/>
              <a:buChar char="o"/>
              <a:defRPr sz="3200"/>
            </a:lvl1pPr>
            <a:lvl2pPr lvl="1">
              <a:defRPr sz="3200"/>
            </a:lvl2pPr>
            <a:lvl3pPr marL="1371600" lvl="2" indent="-457200">
              <a:buFont typeface="Courier New" panose="02070309020205020404" pitchFamily="49" charset="0"/>
              <a:buChar char="o"/>
              <a:defRPr sz="2800"/>
            </a:lvl3pPr>
          </a:lstStyle>
          <a:p>
            <a:r>
              <a:rPr dirty="0"/>
              <a:t>Vimos como imprimir valores:  </a:t>
            </a:r>
            <a:r>
              <a:rPr dirty="0">
                <a:latin typeface="Consolas" panose="020B0609020204030204" pitchFamily="49" charset="0"/>
              </a:rPr>
              <a:t>System.out.print(“texto”);  System.out.println(var);</a:t>
            </a:r>
          </a:p>
          <a:p>
            <a:endParaRPr dirty="0"/>
          </a:p>
          <a:p>
            <a:r>
              <a:rPr dirty="0"/>
              <a:t>Como fazer a leitura de dados?</a:t>
            </a:r>
          </a:p>
          <a:p>
            <a:pPr lvl="1"/>
            <a:r>
              <a:rPr dirty="0"/>
              <a:t>Infelizmente não é só usar </a:t>
            </a:r>
            <a:r>
              <a:rPr dirty="0">
                <a:latin typeface="Consolas" panose="020B0609020204030204" pitchFamily="49" charset="0"/>
              </a:rPr>
              <a:t>System.in</a:t>
            </a:r>
            <a:r>
              <a:rPr dirty="0"/>
              <a:t> !</a:t>
            </a:r>
          </a:p>
          <a:p>
            <a:pPr lvl="1"/>
            <a:r>
              <a:rPr dirty="0"/>
              <a:t>Envolve reconhecer e </a:t>
            </a:r>
            <a:r>
              <a:rPr dirty="0" err="1"/>
              <a:t>decodificar</a:t>
            </a:r>
            <a:r>
              <a:rPr dirty="0"/>
              <a:t> </a:t>
            </a:r>
            <a:r>
              <a:rPr dirty="0" err="1"/>
              <a:t>texto</a:t>
            </a:r>
            <a:r>
              <a:rPr lang="pt-BR" dirty="0"/>
              <a:t>...</a:t>
            </a:r>
            <a:endParaRPr dirty="0"/>
          </a:p>
          <a:p>
            <a:pPr lvl="1"/>
            <a:r>
              <a:rPr dirty="0"/>
              <a:t>Um pouco mais complexa...</a:t>
            </a:r>
          </a:p>
        </p:txBody>
      </p:sp>
    </p:spTree>
    <p:extLst>
      <p:ext uri="{BB962C8B-B14F-4D97-AF65-F5344CB8AC3E}">
        <p14:creationId xmlns:p14="http://schemas.microsoft.com/office/powerpoint/2010/main" val="13537994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1" y="491693"/>
            <a:ext cx="574007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kern="1200" spc="-130" dirty="0"/>
              <a:t>A Classe Scanner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121" y="1752600"/>
            <a:ext cx="78867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9382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491693"/>
            <a:ext cx="721517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kern="1200" spc="-130" dirty="0"/>
              <a:t>Scanner para ler Strings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981200"/>
            <a:ext cx="7210425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6510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491693"/>
            <a:ext cx="669447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kern="1200" spc="-130" dirty="0"/>
              <a:t>Números Formatados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19200" y="1447800"/>
            <a:ext cx="10363200" cy="4862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pt-BR"/>
            </a:defPPr>
            <a:lvl1pPr marL="457200" indent="-457200">
              <a:buFont typeface="Courier New" panose="02070309020205020404" pitchFamily="49" charset="0"/>
              <a:buChar char="o"/>
              <a:defRPr sz="3200"/>
            </a:lvl1pPr>
            <a:lvl2pPr lvl="1">
              <a:defRPr sz="3200"/>
            </a:lvl2pPr>
            <a:lvl3pPr marL="1371600" lvl="2" indent="-457200">
              <a:buFont typeface="Courier New" panose="02070309020205020404" pitchFamily="49" charset="0"/>
              <a:buChar char="o"/>
              <a:defRPr sz="2800"/>
            </a:lvl3pPr>
          </a:lstStyle>
          <a:p>
            <a:r>
              <a:rPr sz="3600" dirty="0"/>
              <a:t>Números formatados: format ou (printf)</a:t>
            </a:r>
          </a:p>
          <a:p>
            <a:r>
              <a:rPr sz="3600" dirty="0" err="1"/>
              <a:t>System.out.format</a:t>
            </a:r>
            <a:r>
              <a:rPr sz="3600" dirty="0"/>
              <a:t>(</a:t>
            </a:r>
            <a:r>
              <a:rPr lang="pt-BR" sz="3600" dirty="0"/>
              <a:t>"</a:t>
            </a:r>
            <a:r>
              <a:rPr sz="3600" dirty="0"/>
              <a:t>Um</a:t>
            </a:r>
            <a:r>
              <a:rPr lang="pt-BR" sz="3600" dirty="0"/>
              <a:t> </a:t>
            </a:r>
            <a:r>
              <a:rPr sz="3600" dirty="0" err="1"/>
              <a:t>texto</a:t>
            </a:r>
            <a:r>
              <a:rPr lang="pt-BR" sz="3600" dirty="0"/>
              <a:t> </a:t>
            </a:r>
            <a:r>
              <a:rPr sz="3600" dirty="0"/>
              <a:t>%d</a:t>
            </a:r>
            <a:r>
              <a:rPr lang="pt-BR" sz="3600" dirty="0"/>
              <a:t>"</a:t>
            </a:r>
            <a:r>
              <a:rPr sz="3600" dirty="0"/>
              <a:t>,</a:t>
            </a:r>
            <a:r>
              <a:rPr lang="pt-BR" sz="3600" dirty="0"/>
              <a:t> </a:t>
            </a:r>
            <a:r>
              <a:rPr sz="3600" dirty="0" err="1"/>
              <a:t>var</a:t>
            </a:r>
            <a:r>
              <a:rPr sz="3600" dirty="0"/>
              <a:t>);</a:t>
            </a:r>
            <a:endParaRPr lang="pt-BR" sz="3600" dirty="0"/>
          </a:p>
          <a:p>
            <a:endParaRPr lang="pt-BR" sz="3600" dirty="0"/>
          </a:p>
          <a:p>
            <a:r>
              <a:rPr sz="3600" dirty="0" err="1"/>
              <a:t>Código</a:t>
            </a:r>
            <a:r>
              <a:rPr sz="3600" dirty="0"/>
              <a:t> de controle, composto </a:t>
            </a:r>
            <a:r>
              <a:rPr sz="3600" dirty="0" err="1"/>
              <a:t>por</a:t>
            </a:r>
            <a:r>
              <a:rPr sz="3600" dirty="0"/>
              <a:t>:</a:t>
            </a:r>
            <a:r>
              <a:rPr lang="pt-BR" sz="3600" dirty="0"/>
              <a:t> </a:t>
            </a:r>
            <a:r>
              <a:rPr sz="3600" dirty="0"/>
              <a:t>%0C.DT</a:t>
            </a:r>
            <a:endParaRPr lang="pt-BR" sz="3600" dirty="0"/>
          </a:p>
          <a:p>
            <a:endParaRPr dirty="0"/>
          </a:p>
          <a:p>
            <a:pPr lvl="2"/>
            <a:r>
              <a:rPr dirty="0"/>
              <a:t>% - indica início do código de controle</a:t>
            </a:r>
          </a:p>
          <a:p>
            <a:pPr lvl="2"/>
            <a:r>
              <a:rPr dirty="0"/>
              <a:t>0 – Indica se deve haver preenchimento de zeros</a:t>
            </a:r>
          </a:p>
          <a:p>
            <a:pPr lvl="2"/>
            <a:r>
              <a:rPr dirty="0"/>
              <a:t>C – Número de caracteres à esquerda da vírgula</a:t>
            </a:r>
          </a:p>
          <a:p>
            <a:pPr lvl="2"/>
            <a:r>
              <a:rPr dirty="0"/>
              <a:t>D – Número de caracteres à direita da vírgula</a:t>
            </a:r>
          </a:p>
          <a:p>
            <a:pPr lvl="2"/>
            <a:r>
              <a:rPr dirty="0"/>
              <a:t>T – Tipo de dado: d, f </a:t>
            </a:r>
            <a:r>
              <a:rPr dirty="0" err="1"/>
              <a:t>ou</a:t>
            </a:r>
            <a:r>
              <a:rPr dirty="0"/>
              <a:t> s</a:t>
            </a:r>
            <a:r>
              <a:rPr lang="pt-BR" dirty="0"/>
              <a:t> </a:t>
            </a:r>
            <a:r>
              <a:rPr dirty="0"/>
              <a:t>.....</a:t>
            </a:r>
            <a:r>
              <a:rPr lang="pt-BR" dirty="0"/>
              <a:t> </a:t>
            </a:r>
            <a:r>
              <a:rPr dirty="0"/>
              <a:t>%n?</a:t>
            </a:r>
          </a:p>
        </p:txBody>
      </p:sp>
    </p:spTree>
    <p:extLst>
      <p:ext uri="{BB962C8B-B14F-4D97-AF65-F5344CB8AC3E}">
        <p14:creationId xmlns:p14="http://schemas.microsoft.com/office/powerpoint/2010/main" val="3357123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491693"/>
            <a:ext cx="669447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kern="1200" spc="-130" dirty="0"/>
              <a:t>Números Formatados</a:t>
            </a: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1828800"/>
            <a:ext cx="605790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6467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 txBox="1">
            <a:spLocks/>
          </p:cNvSpPr>
          <p:nvPr/>
        </p:nvSpPr>
        <p:spPr>
          <a:xfrm>
            <a:off x="1971421" y="1752600"/>
            <a:ext cx="8249157" cy="280910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 algn="ctr">
              <a:spcBef>
                <a:spcPts val="105"/>
              </a:spcBef>
            </a:pPr>
            <a:r>
              <a:rPr lang="pt-BR" sz="7200" kern="0" dirty="0"/>
              <a:t>Exemplo</a:t>
            </a:r>
          </a:p>
          <a:p>
            <a:pPr marL="12700" algn="ctr">
              <a:spcBef>
                <a:spcPts val="105"/>
              </a:spcBef>
            </a:pPr>
            <a:endParaRPr lang="pt-BR" sz="7200" kern="0" dirty="0"/>
          </a:p>
          <a:p>
            <a:pPr marL="12700" algn="ctr">
              <a:spcBef>
                <a:spcPts val="105"/>
              </a:spcBef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Faça um programa que receba o salário de um funcionário (número real), calcule e mostre o novo salário, adicionando um aumento de 25%. </a:t>
            </a:r>
          </a:p>
        </p:txBody>
      </p:sp>
    </p:spTree>
    <p:extLst>
      <p:ext uri="{BB962C8B-B14F-4D97-AF65-F5344CB8AC3E}">
        <p14:creationId xmlns:p14="http://schemas.microsoft.com/office/powerpoint/2010/main" val="26855951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 txBox="1">
            <a:spLocks/>
          </p:cNvSpPr>
          <p:nvPr/>
        </p:nvSpPr>
        <p:spPr>
          <a:xfrm>
            <a:off x="838200" y="304800"/>
            <a:ext cx="8249157" cy="63741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1100" kern="0" dirty="0" err="1">
                <a:latin typeface="Consolas" panose="020B0609020204030204" pitchFamily="49" charset="0"/>
              </a:rPr>
              <a:t>package</a:t>
            </a:r>
            <a:r>
              <a:rPr lang="pt-BR" sz="1100" kern="0" dirty="0">
                <a:latin typeface="Consolas" panose="020B0609020204030204" pitchFamily="49" charset="0"/>
              </a:rPr>
              <a:t> listaexercicio1_1;</a:t>
            </a:r>
          </a:p>
          <a:p>
            <a:pPr marL="12700">
              <a:spcBef>
                <a:spcPts val="105"/>
              </a:spcBef>
            </a:pPr>
            <a:endParaRPr lang="pt-BR" sz="1100" kern="0" dirty="0">
              <a:latin typeface="Consolas" panose="020B0609020204030204" pitchFamily="49" charset="0"/>
            </a:endParaRPr>
          </a:p>
          <a:p>
            <a:pPr marL="12700">
              <a:spcBef>
                <a:spcPts val="105"/>
              </a:spcBef>
            </a:pPr>
            <a:r>
              <a:rPr lang="pt-BR" sz="1100" kern="0" dirty="0" err="1">
                <a:latin typeface="Consolas" panose="020B0609020204030204" pitchFamily="49" charset="0"/>
              </a:rPr>
              <a:t>import</a:t>
            </a:r>
            <a:r>
              <a:rPr lang="pt-BR" sz="1100" kern="0" dirty="0">
                <a:latin typeface="Consolas" panose="020B0609020204030204" pitchFamily="49" charset="0"/>
              </a:rPr>
              <a:t> </a:t>
            </a:r>
            <a:r>
              <a:rPr lang="pt-BR" sz="1100" kern="0" dirty="0" err="1">
                <a:latin typeface="Consolas" panose="020B0609020204030204" pitchFamily="49" charset="0"/>
              </a:rPr>
              <a:t>java.util.Scanner</a:t>
            </a:r>
            <a:r>
              <a:rPr lang="pt-BR" sz="1100" kern="0" dirty="0">
                <a:latin typeface="Consolas" panose="020B0609020204030204" pitchFamily="49" charset="0"/>
              </a:rPr>
              <a:t>;</a:t>
            </a:r>
          </a:p>
          <a:p>
            <a:pPr marL="12700">
              <a:spcBef>
                <a:spcPts val="105"/>
              </a:spcBef>
            </a:pPr>
            <a:endParaRPr lang="pt-BR" sz="1100" kern="0" dirty="0">
              <a:latin typeface="Consolas" panose="020B0609020204030204" pitchFamily="49" charset="0"/>
            </a:endParaRPr>
          </a:p>
          <a:p>
            <a:pPr marL="12700">
              <a:spcBef>
                <a:spcPts val="105"/>
              </a:spcBef>
            </a:pPr>
            <a:r>
              <a:rPr lang="pt-BR" sz="1100" kern="0" dirty="0" err="1">
                <a:latin typeface="Consolas" panose="020B0609020204030204" pitchFamily="49" charset="0"/>
              </a:rPr>
              <a:t>public</a:t>
            </a:r>
            <a:r>
              <a:rPr lang="pt-BR" sz="1100" kern="0" dirty="0">
                <a:latin typeface="Consolas" panose="020B0609020204030204" pitchFamily="49" charset="0"/>
              </a:rPr>
              <a:t> </a:t>
            </a:r>
            <a:r>
              <a:rPr lang="pt-BR" sz="1100" kern="0" dirty="0" err="1">
                <a:latin typeface="Consolas" panose="020B0609020204030204" pitchFamily="49" charset="0"/>
              </a:rPr>
              <a:t>class</a:t>
            </a:r>
            <a:r>
              <a:rPr lang="pt-BR" sz="1100" kern="0" dirty="0">
                <a:latin typeface="Consolas" panose="020B0609020204030204" pitchFamily="49" charset="0"/>
              </a:rPr>
              <a:t> Salario {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    </a:t>
            </a:r>
            <a:r>
              <a:rPr lang="pt-BR" sz="1100" kern="0" dirty="0" err="1">
                <a:latin typeface="Consolas" panose="020B0609020204030204" pitchFamily="49" charset="0"/>
              </a:rPr>
              <a:t>private</a:t>
            </a:r>
            <a:r>
              <a:rPr lang="pt-BR" sz="1100" kern="0" dirty="0">
                <a:latin typeface="Consolas" panose="020B0609020204030204" pitchFamily="49" charset="0"/>
              </a:rPr>
              <a:t> </a:t>
            </a:r>
            <a:r>
              <a:rPr lang="pt-BR" sz="1100" kern="0" dirty="0" err="1">
                <a:latin typeface="Consolas" panose="020B0609020204030204" pitchFamily="49" charset="0"/>
              </a:rPr>
              <a:t>double</a:t>
            </a:r>
            <a:r>
              <a:rPr lang="pt-BR" sz="1100" kern="0" dirty="0">
                <a:latin typeface="Consolas" panose="020B0609020204030204" pitchFamily="49" charset="0"/>
              </a:rPr>
              <a:t> </a:t>
            </a:r>
            <a:r>
              <a:rPr lang="pt-BR" sz="1100" kern="0" dirty="0" err="1">
                <a:latin typeface="Consolas" panose="020B0609020204030204" pitchFamily="49" charset="0"/>
              </a:rPr>
              <a:t>bsalario</a:t>
            </a:r>
            <a:r>
              <a:rPr lang="pt-BR" sz="1100" kern="0" dirty="0">
                <a:latin typeface="Consolas" panose="020B0609020204030204" pitchFamily="49" charset="0"/>
              </a:rPr>
              <a:t>;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    </a:t>
            </a:r>
            <a:r>
              <a:rPr lang="pt-BR" sz="1100" kern="0" dirty="0" err="1">
                <a:latin typeface="Consolas" panose="020B0609020204030204" pitchFamily="49" charset="0"/>
              </a:rPr>
              <a:t>private</a:t>
            </a:r>
            <a:r>
              <a:rPr lang="pt-BR" sz="1100" kern="0" dirty="0">
                <a:latin typeface="Consolas" panose="020B0609020204030204" pitchFamily="49" charset="0"/>
              </a:rPr>
              <a:t> </a:t>
            </a:r>
            <a:r>
              <a:rPr lang="pt-BR" sz="1100" kern="0" dirty="0" err="1">
                <a:latin typeface="Consolas" panose="020B0609020204030204" pitchFamily="49" charset="0"/>
              </a:rPr>
              <a:t>double</a:t>
            </a:r>
            <a:r>
              <a:rPr lang="pt-BR" sz="1100" kern="0" dirty="0">
                <a:latin typeface="Consolas" panose="020B0609020204030204" pitchFamily="49" charset="0"/>
              </a:rPr>
              <a:t> </a:t>
            </a:r>
            <a:r>
              <a:rPr lang="pt-BR" sz="1100" kern="0" dirty="0" err="1">
                <a:latin typeface="Consolas" panose="020B0609020204030204" pitchFamily="49" charset="0"/>
              </a:rPr>
              <a:t>nsalario</a:t>
            </a:r>
            <a:r>
              <a:rPr lang="pt-BR" sz="1100" kern="0" dirty="0">
                <a:latin typeface="Consolas" panose="020B0609020204030204" pitchFamily="49" charset="0"/>
              </a:rPr>
              <a:t>;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    </a:t>
            </a:r>
            <a:r>
              <a:rPr lang="pt-BR" sz="1100" kern="0" dirty="0" err="1">
                <a:latin typeface="Consolas" panose="020B0609020204030204" pitchFamily="49" charset="0"/>
              </a:rPr>
              <a:t>private</a:t>
            </a:r>
            <a:r>
              <a:rPr lang="pt-BR" sz="1100" kern="0" dirty="0">
                <a:latin typeface="Consolas" panose="020B0609020204030204" pitchFamily="49" charset="0"/>
              </a:rPr>
              <a:t> Scanner s;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    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    </a:t>
            </a:r>
            <a:r>
              <a:rPr lang="pt-BR" sz="1100" kern="0" dirty="0" err="1">
                <a:latin typeface="Consolas" panose="020B0609020204030204" pitchFamily="49" charset="0"/>
              </a:rPr>
              <a:t>public</a:t>
            </a:r>
            <a:r>
              <a:rPr lang="pt-BR" sz="1100" kern="0" dirty="0">
                <a:latin typeface="Consolas" panose="020B0609020204030204" pitchFamily="49" charset="0"/>
              </a:rPr>
              <a:t> Salario()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	{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		s = new Scanner(System.in);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		</a:t>
            </a:r>
            <a:r>
              <a:rPr lang="pt-BR" sz="1100" kern="0" dirty="0" err="1">
                <a:latin typeface="Consolas" panose="020B0609020204030204" pitchFamily="49" charset="0"/>
              </a:rPr>
              <a:t>bsalario</a:t>
            </a:r>
            <a:r>
              <a:rPr lang="pt-BR" sz="1100" kern="0" dirty="0">
                <a:latin typeface="Consolas" panose="020B0609020204030204" pitchFamily="49" charset="0"/>
              </a:rPr>
              <a:t>=0;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		</a:t>
            </a:r>
            <a:r>
              <a:rPr lang="pt-BR" sz="1100" kern="0" dirty="0" err="1">
                <a:latin typeface="Consolas" panose="020B0609020204030204" pitchFamily="49" charset="0"/>
              </a:rPr>
              <a:t>nsalario</a:t>
            </a:r>
            <a:r>
              <a:rPr lang="pt-BR" sz="1100" kern="0" dirty="0">
                <a:latin typeface="Consolas" panose="020B0609020204030204" pitchFamily="49" charset="0"/>
              </a:rPr>
              <a:t>=0;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	}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    </a:t>
            </a:r>
            <a:r>
              <a:rPr lang="pt-BR" sz="1100" kern="0" dirty="0" err="1">
                <a:latin typeface="Consolas" panose="020B0609020204030204" pitchFamily="49" charset="0"/>
              </a:rPr>
              <a:t>public</a:t>
            </a:r>
            <a:r>
              <a:rPr lang="pt-BR" sz="1100" kern="0" dirty="0">
                <a:latin typeface="Consolas" panose="020B0609020204030204" pitchFamily="49" charset="0"/>
              </a:rPr>
              <a:t> </a:t>
            </a:r>
            <a:r>
              <a:rPr lang="pt-BR" sz="1100" kern="0" dirty="0" err="1">
                <a:latin typeface="Consolas" panose="020B0609020204030204" pitchFamily="49" charset="0"/>
              </a:rPr>
              <a:t>void</a:t>
            </a:r>
            <a:r>
              <a:rPr lang="pt-BR" sz="1100" kern="0" dirty="0">
                <a:latin typeface="Consolas" panose="020B0609020204030204" pitchFamily="49" charset="0"/>
              </a:rPr>
              <a:t> entrada()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	{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		</a:t>
            </a:r>
            <a:r>
              <a:rPr lang="pt-BR" sz="1100" kern="0" dirty="0" err="1">
                <a:latin typeface="Consolas" panose="020B0609020204030204" pitchFamily="49" charset="0"/>
              </a:rPr>
              <a:t>System.out.printf</a:t>
            </a:r>
            <a:r>
              <a:rPr lang="pt-BR" sz="1100" kern="0" dirty="0">
                <a:latin typeface="Consolas" panose="020B0609020204030204" pitchFamily="49" charset="0"/>
              </a:rPr>
              <a:t>("Informe seu salário: ");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		</a:t>
            </a:r>
            <a:r>
              <a:rPr lang="pt-BR" sz="1100" kern="0" dirty="0" err="1">
                <a:latin typeface="Consolas" panose="020B0609020204030204" pitchFamily="49" charset="0"/>
              </a:rPr>
              <a:t>bsalario</a:t>
            </a:r>
            <a:r>
              <a:rPr lang="pt-BR" sz="1100" kern="0" dirty="0">
                <a:latin typeface="Consolas" panose="020B0609020204030204" pitchFamily="49" charset="0"/>
              </a:rPr>
              <a:t> = </a:t>
            </a:r>
            <a:r>
              <a:rPr lang="pt-BR" sz="1100" kern="0" dirty="0" err="1">
                <a:latin typeface="Consolas" panose="020B0609020204030204" pitchFamily="49" charset="0"/>
              </a:rPr>
              <a:t>s.nextDouble</a:t>
            </a:r>
            <a:r>
              <a:rPr lang="pt-BR" sz="1100" kern="0" dirty="0">
                <a:latin typeface="Consolas" panose="020B0609020204030204" pitchFamily="49" charset="0"/>
              </a:rPr>
              <a:t>();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		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	}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	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	</a:t>
            </a:r>
            <a:r>
              <a:rPr lang="pt-BR" sz="1100" kern="0" dirty="0" err="1">
                <a:latin typeface="Consolas" panose="020B0609020204030204" pitchFamily="49" charset="0"/>
              </a:rPr>
              <a:t>public</a:t>
            </a:r>
            <a:r>
              <a:rPr lang="pt-BR" sz="1100" kern="0" dirty="0">
                <a:latin typeface="Consolas" panose="020B0609020204030204" pitchFamily="49" charset="0"/>
              </a:rPr>
              <a:t> </a:t>
            </a:r>
            <a:r>
              <a:rPr lang="pt-BR" sz="1100" kern="0" dirty="0" err="1">
                <a:latin typeface="Consolas" panose="020B0609020204030204" pitchFamily="49" charset="0"/>
              </a:rPr>
              <a:t>void</a:t>
            </a:r>
            <a:r>
              <a:rPr lang="pt-BR" sz="1100" kern="0" dirty="0">
                <a:latin typeface="Consolas" panose="020B0609020204030204" pitchFamily="49" charset="0"/>
              </a:rPr>
              <a:t> </a:t>
            </a:r>
            <a:r>
              <a:rPr lang="pt-BR" sz="1100" kern="0" dirty="0" err="1">
                <a:latin typeface="Consolas" panose="020B0609020204030204" pitchFamily="49" charset="0"/>
              </a:rPr>
              <a:t>atribuicao</a:t>
            </a:r>
            <a:r>
              <a:rPr lang="pt-BR" sz="1100" kern="0" dirty="0">
                <a:latin typeface="Consolas" panose="020B0609020204030204" pitchFamily="49" charset="0"/>
              </a:rPr>
              <a:t>()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	{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		</a:t>
            </a:r>
            <a:r>
              <a:rPr lang="pt-BR" sz="1100" kern="0" dirty="0" err="1">
                <a:latin typeface="Consolas" panose="020B0609020204030204" pitchFamily="49" charset="0"/>
              </a:rPr>
              <a:t>nsalario</a:t>
            </a:r>
            <a:r>
              <a:rPr lang="pt-BR" sz="1100" kern="0" dirty="0">
                <a:latin typeface="Consolas" panose="020B0609020204030204" pitchFamily="49" charset="0"/>
              </a:rPr>
              <a:t> = (</a:t>
            </a:r>
            <a:r>
              <a:rPr lang="pt-BR" sz="1100" kern="0" dirty="0" err="1">
                <a:latin typeface="Consolas" panose="020B0609020204030204" pitchFamily="49" charset="0"/>
              </a:rPr>
              <a:t>bsalario</a:t>
            </a:r>
            <a:r>
              <a:rPr lang="pt-BR" sz="1100" kern="0" dirty="0">
                <a:latin typeface="Consolas" panose="020B0609020204030204" pitchFamily="49" charset="0"/>
              </a:rPr>
              <a:t>*0.25)+</a:t>
            </a:r>
            <a:r>
              <a:rPr lang="pt-BR" sz="1100" kern="0" dirty="0" err="1">
                <a:latin typeface="Consolas" panose="020B0609020204030204" pitchFamily="49" charset="0"/>
              </a:rPr>
              <a:t>bsalario</a:t>
            </a:r>
            <a:r>
              <a:rPr lang="pt-BR" sz="1100" kern="0" dirty="0">
                <a:latin typeface="Consolas" panose="020B0609020204030204" pitchFamily="49" charset="0"/>
              </a:rPr>
              <a:t>;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	}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	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	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	</a:t>
            </a:r>
            <a:r>
              <a:rPr lang="pt-BR" sz="1100" kern="0" dirty="0" err="1">
                <a:latin typeface="Consolas" panose="020B0609020204030204" pitchFamily="49" charset="0"/>
              </a:rPr>
              <a:t>public</a:t>
            </a:r>
            <a:r>
              <a:rPr lang="pt-BR" sz="1100" kern="0" dirty="0">
                <a:latin typeface="Consolas" panose="020B0609020204030204" pitchFamily="49" charset="0"/>
              </a:rPr>
              <a:t> </a:t>
            </a:r>
            <a:r>
              <a:rPr lang="pt-BR" sz="1100" kern="0" dirty="0" err="1">
                <a:latin typeface="Consolas" panose="020B0609020204030204" pitchFamily="49" charset="0"/>
              </a:rPr>
              <a:t>void</a:t>
            </a:r>
            <a:r>
              <a:rPr lang="pt-BR" sz="1100" kern="0" dirty="0">
                <a:latin typeface="Consolas" panose="020B0609020204030204" pitchFamily="49" charset="0"/>
              </a:rPr>
              <a:t> imprimir()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	{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		</a:t>
            </a:r>
            <a:r>
              <a:rPr lang="pt-BR" sz="1100" kern="0" dirty="0" err="1">
                <a:latin typeface="Consolas" panose="020B0609020204030204" pitchFamily="49" charset="0"/>
              </a:rPr>
              <a:t>System.out.printf</a:t>
            </a:r>
            <a:r>
              <a:rPr lang="pt-BR" sz="1100" kern="0" dirty="0">
                <a:latin typeface="Consolas" panose="020B0609020204030204" pitchFamily="49" charset="0"/>
              </a:rPr>
              <a:t>("O seu salario com aumento de 25%% é igual a: %.2f ", </a:t>
            </a:r>
            <a:r>
              <a:rPr lang="pt-BR" sz="1100" kern="0" dirty="0" err="1">
                <a:latin typeface="Consolas" panose="020B0609020204030204" pitchFamily="49" charset="0"/>
              </a:rPr>
              <a:t>nsalario</a:t>
            </a:r>
            <a:r>
              <a:rPr lang="pt-BR" sz="1100" kern="0" dirty="0">
                <a:latin typeface="Consolas" panose="020B0609020204030204" pitchFamily="49" charset="0"/>
              </a:rPr>
              <a:t>);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	}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	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    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CEE09F7F-63E1-4958-8C69-8A690A68DCAB}"/>
              </a:ext>
            </a:extLst>
          </p:cNvPr>
          <p:cNvSpPr txBox="1">
            <a:spLocks/>
          </p:cNvSpPr>
          <p:nvPr/>
        </p:nvSpPr>
        <p:spPr>
          <a:xfrm>
            <a:off x="6477000" y="304800"/>
            <a:ext cx="51054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 algn="r">
              <a:spcBef>
                <a:spcPts val="105"/>
              </a:spcBef>
            </a:pPr>
            <a:r>
              <a:rPr lang="pt-BR" sz="4000" kern="0" dirty="0"/>
              <a:t>Classe Salário</a:t>
            </a:r>
          </a:p>
        </p:txBody>
      </p:sp>
    </p:spTree>
    <p:extLst>
      <p:ext uri="{BB962C8B-B14F-4D97-AF65-F5344CB8AC3E}">
        <p14:creationId xmlns:p14="http://schemas.microsoft.com/office/powerpoint/2010/main" val="7200217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 txBox="1">
            <a:spLocks/>
          </p:cNvSpPr>
          <p:nvPr/>
        </p:nvSpPr>
        <p:spPr>
          <a:xfrm>
            <a:off x="914400" y="608423"/>
            <a:ext cx="8249157" cy="29142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endParaRPr lang="pt-BR" sz="1100" kern="0" dirty="0">
              <a:latin typeface="Consolas" panose="020B0609020204030204" pitchFamily="49" charset="0"/>
            </a:endParaRPr>
          </a:p>
          <a:p>
            <a:pPr marL="12700">
              <a:spcBef>
                <a:spcPts val="105"/>
              </a:spcBef>
            </a:pPr>
            <a:r>
              <a:rPr lang="pt-BR" sz="1100" kern="0" dirty="0" err="1">
                <a:latin typeface="Consolas" panose="020B0609020204030204" pitchFamily="49" charset="0"/>
              </a:rPr>
              <a:t>package</a:t>
            </a:r>
            <a:r>
              <a:rPr lang="pt-BR" sz="1100" kern="0" dirty="0">
                <a:latin typeface="Consolas" panose="020B0609020204030204" pitchFamily="49" charset="0"/>
              </a:rPr>
              <a:t> listaexercicio1_1;</a:t>
            </a:r>
          </a:p>
          <a:p>
            <a:pPr marL="12700">
              <a:spcBef>
                <a:spcPts val="105"/>
              </a:spcBef>
            </a:pPr>
            <a:endParaRPr lang="pt-BR" sz="1100" kern="0" dirty="0">
              <a:latin typeface="Consolas" panose="020B0609020204030204" pitchFamily="49" charset="0"/>
            </a:endParaRPr>
          </a:p>
          <a:p>
            <a:pPr marL="12700">
              <a:spcBef>
                <a:spcPts val="105"/>
              </a:spcBef>
            </a:pPr>
            <a:endParaRPr lang="pt-BR" sz="1100" kern="0" dirty="0">
              <a:latin typeface="Consolas" panose="020B0609020204030204" pitchFamily="49" charset="0"/>
            </a:endParaRPr>
          </a:p>
          <a:p>
            <a:pPr marL="12700">
              <a:spcBef>
                <a:spcPts val="105"/>
              </a:spcBef>
            </a:pPr>
            <a:r>
              <a:rPr lang="pt-BR" sz="1100" kern="0" dirty="0" err="1">
                <a:latin typeface="Consolas" panose="020B0609020204030204" pitchFamily="49" charset="0"/>
              </a:rPr>
              <a:t>public</a:t>
            </a:r>
            <a:r>
              <a:rPr lang="pt-BR" sz="1100" kern="0" dirty="0">
                <a:latin typeface="Consolas" panose="020B0609020204030204" pitchFamily="49" charset="0"/>
              </a:rPr>
              <a:t> </a:t>
            </a:r>
            <a:r>
              <a:rPr lang="pt-BR" sz="1100" kern="0" dirty="0" err="1">
                <a:latin typeface="Consolas" panose="020B0609020204030204" pitchFamily="49" charset="0"/>
              </a:rPr>
              <a:t>class</a:t>
            </a:r>
            <a:r>
              <a:rPr lang="pt-BR" sz="1100" kern="0" dirty="0">
                <a:latin typeface="Consolas" panose="020B0609020204030204" pitchFamily="49" charset="0"/>
              </a:rPr>
              <a:t> principal {</a:t>
            </a:r>
          </a:p>
          <a:p>
            <a:pPr marL="12700">
              <a:spcBef>
                <a:spcPts val="105"/>
              </a:spcBef>
            </a:pPr>
            <a:endParaRPr lang="pt-BR" sz="1100" kern="0" dirty="0">
              <a:latin typeface="Consolas" panose="020B0609020204030204" pitchFamily="49" charset="0"/>
            </a:endParaRP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   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    </a:t>
            </a:r>
            <a:r>
              <a:rPr lang="pt-BR" sz="1100" kern="0" dirty="0" err="1">
                <a:latin typeface="Consolas" panose="020B0609020204030204" pitchFamily="49" charset="0"/>
              </a:rPr>
              <a:t>public</a:t>
            </a:r>
            <a:r>
              <a:rPr lang="pt-BR" sz="1100" kern="0" dirty="0">
                <a:latin typeface="Consolas" panose="020B0609020204030204" pitchFamily="49" charset="0"/>
              </a:rPr>
              <a:t> </a:t>
            </a:r>
            <a:r>
              <a:rPr lang="pt-BR" sz="1100" kern="0" dirty="0" err="1">
                <a:latin typeface="Consolas" panose="020B0609020204030204" pitchFamily="49" charset="0"/>
              </a:rPr>
              <a:t>static</a:t>
            </a:r>
            <a:r>
              <a:rPr lang="pt-BR" sz="1100" kern="0" dirty="0">
                <a:latin typeface="Consolas" panose="020B0609020204030204" pitchFamily="49" charset="0"/>
              </a:rPr>
              <a:t> </a:t>
            </a:r>
            <a:r>
              <a:rPr lang="pt-BR" sz="1100" kern="0" dirty="0" err="1">
                <a:latin typeface="Consolas" panose="020B0609020204030204" pitchFamily="49" charset="0"/>
              </a:rPr>
              <a:t>void</a:t>
            </a:r>
            <a:r>
              <a:rPr lang="pt-BR" sz="1100" kern="0" dirty="0">
                <a:latin typeface="Consolas" panose="020B0609020204030204" pitchFamily="49" charset="0"/>
              </a:rPr>
              <a:t> </a:t>
            </a:r>
            <a:r>
              <a:rPr lang="pt-BR" sz="1100" kern="0" dirty="0" err="1">
                <a:latin typeface="Consolas" panose="020B0609020204030204" pitchFamily="49" charset="0"/>
              </a:rPr>
              <a:t>main</a:t>
            </a:r>
            <a:r>
              <a:rPr lang="pt-BR" sz="1100" kern="0" dirty="0">
                <a:latin typeface="Consolas" panose="020B0609020204030204" pitchFamily="49" charset="0"/>
              </a:rPr>
              <a:t>(</a:t>
            </a:r>
            <a:r>
              <a:rPr lang="pt-BR" sz="1100" kern="0" dirty="0" err="1">
                <a:latin typeface="Consolas" panose="020B0609020204030204" pitchFamily="49" charset="0"/>
              </a:rPr>
              <a:t>String</a:t>
            </a:r>
            <a:r>
              <a:rPr lang="pt-BR" sz="1100" kern="0" dirty="0">
                <a:latin typeface="Consolas" panose="020B0609020204030204" pitchFamily="49" charset="0"/>
              </a:rPr>
              <a:t>[] </a:t>
            </a:r>
            <a:r>
              <a:rPr lang="pt-BR" sz="1100" kern="0" dirty="0" err="1">
                <a:latin typeface="Consolas" panose="020B0609020204030204" pitchFamily="49" charset="0"/>
              </a:rPr>
              <a:t>args</a:t>
            </a:r>
            <a:r>
              <a:rPr lang="pt-BR" sz="1100" kern="0" dirty="0">
                <a:latin typeface="Consolas" panose="020B0609020204030204" pitchFamily="49" charset="0"/>
              </a:rPr>
              <a:t>) {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        Salario sal = new Salario();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        </a:t>
            </a:r>
            <a:r>
              <a:rPr lang="pt-BR" sz="1100" kern="0" dirty="0" err="1">
                <a:latin typeface="Consolas" panose="020B0609020204030204" pitchFamily="49" charset="0"/>
              </a:rPr>
              <a:t>sal.entrada</a:t>
            </a:r>
            <a:r>
              <a:rPr lang="pt-BR" sz="1100" kern="0" dirty="0">
                <a:latin typeface="Consolas" panose="020B0609020204030204" pitchFamily="49" charset="0"/>
              </a:rPr>
              <a:t>();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        </a:t>
            </a:r>
            <a:r>
              <a:rPr lang="pt-BR" sz="1100" kern="0" dirty="0" err="1">
                <a:latin typeface="Consolas" panose="020B0609020204030204" pitchFamily="49" charset="0"/>
              </a:rPr>
              <a:t>sal.atribuicao</a:t>
            </a:r>
            <a:r>
              <a:rPr lang="pt-BR" sz="1100" kern="0" dirty="0">
                <a:latin typeface="Consolas" panose="020B0609020204030204" pitchFamily="49" charset="0"/>
              </a:rPr>
              <a:t>();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        </a:t>
            </a:r>
            <a:r>
              <a:rPr lang="pt-BR" sz="1100" kern="0" dirty="0" err="1">
                <a:latin typeface="Consolas" panose="020B0609020204030204" pitchFamily="49" charset="0"/>
              </a:rPr>
              <a:t>sal.imprimir</a:t>
            </a:r>
            <a:r>
              <a:rPr lang="pt-BR" sz="1100" kern="0" dirty="0">
                <a:latin typeface="Consolas" panose="020B0609020204030204" pitchFamily="49" charset="0"/>
              </a:rPr>
              <a:t>();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    }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    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}</a:t>
            </a:r>
          </a:p>
          <a:p>
            <a:pPr marL="12700">
              <a:spcBef>
                <a:spcPts val="105"/>
              </a:spcBef>
            </a:pPr>
            <a:r>
              <a:rPr lang="pt-BR" sz="1100" kern="0" dirty="0"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2E3F06EA-B325-4D9D-BE58-1EF4BB3F3948}"/>
              </a:ext>
            </a:extLst>
          </p:cNvPr>
          <p:cNvSpPr txBox="1">
            <a:spLocks/>
          </p:cNvSpPr>
          <p:nvPr/>
        </p:nvSpPr>
        <p:spPr>
          <a:xfrm>
            <a:off x="6477000" y="304800"/>
            <a:ext cx="51054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 algn="r">
              <a:spcBef>
                <a:spcPts val="105"/>
              </a:spcBef>
            </a:pPr>
            <a:r>
              <a:rPr lang="pt-BR" sz="4000" kern="0" dirty="0"/>
              <a:t>Classe Principal</a:t>
            </a:r>
          </a:p>
        </p:txBody>
      </p:sp>
    </p:spTree>
    <p:extLst>
      <p:ext uri="{BB962C8B-B14F-4D97-AF65-F5344CB8AC3E}">
        <p14:creationId xmlns:p14="http://schemas.microsoft.com/office/powerpoint/2010/main" val="6163360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 txBox="1">
            <a:spLocks/>
          </p:cNvSpPr>
          <p:nvPr/>
        </p:nvSpPr>
        <p:spPr>
          <a:xfrm>
            <a:off x="1981200" y="2667000"/>
            <a:ext cx="8249157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 algn="ctr">
              <a:spcBef>
                <a:spcPts val="105"/>
              </a:spcBef>
            </a:pPr>
            <a:r>
              <a:rPr lang="pt-BR" sz="7200" kern="0"/>
              <a:t>Exercícios</a:t>
            </a:r>
            <a:endParaRPr lang="pt-BR" sz="7200" kern="0" dirty="0"/>
          </a:p>
        </p:txBody>
      </p:sp>
    </p:spTree>
    <p:extLst>
      <p:ext uri="{BB962C8B-B14F-4D97-AF65-F5344CB8AC3E}">
        <p14:creationId xmlns:p14="http://schemas.microsoft.com/office/powerpoint/2010/main" val="1884792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2994</TotalTime>
  <Words>1049</Words>
  <Application>Microsoft Office PowerPoint</Application>
  <PresentationFormat>Widescreen</PresentationFormat>
  <Paragraphs>252</Paragraphs>
  <Slides>36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3" baseType="lpstr">
      <vt:lpstr>Calibri</vt:lpstr>
      <vt:lpstr>Carlito</vt:lpstr>
      <vt:lpstr>Century Gothic</vt:lpstr>
      <vt:lpstr>Consolas</vt:lpstr>
      <vt:lpstr>Courier New</vt:lpstr>
      <vt:lpstr>Trebuchet MS</vt:lpstr>
      <vt:lpstr>Office Theme</vt:lpstr>
      <vt:lpstr>PROGRAMAÇÃO ORIENTADA A OBJETOS JAVA</vt:lpstr>
      <vt:lpstr>Apresentação do PowerPoint</vt:lpstr>
      <vt:lpstr>Como Funciona o Java ?</vt:lpstr>
      <vt:lpstr>Nomenclatura do Java</vt:lpstr>
      <vt:lpstr>Estrutura do Código</vt:lpstr>
      <vt:lpstr>Estrutura do Código</vt:lpstr>
      <vt:lpstr>Estrutura do Código</vt:lpstr>
      <vt:lpstr>Analogia da Estruturação Java</vt:lpstr>
      <vt:lpstr>Impressão de Dados em Java</vt:lpstr>
      <vt:lpstr>Primeiro Programa Java</vt:lpstr>
      <vt:lpstr>Declarando Variáveis em Java</vt:lpstr>
      <vt:lpstr>Tipos de Dados em Java</vt:lpstr>
      <vt:lpstr>Atribuição de Valores a Variáveis</vt:lpstr>
      <vt:lpstr>Constantes em Java</vt:lpstr>
      <vt:lpstr>Comentários em Java</vt:lpstr>
      <vt:lpstr>Operadores em Java</vt:lpstr>
      <vt:lpstr>Operadores em Java</vt:lpstr>
      <vt:lpstr>Estruturas de Decisão</vt:lpstr>
      <vt:lpstr>Formas Diferentes</vt:lpstr>
      <vt:lpstr>Aninhamento de Decisões</vt:lpstr>
      <vt:lpstr>Estruturas de Seleção</vt:lpstr>
      <vt:lpstr>Estruturas de Repetição</vt:lpstr>
      <vt:lpstr>Estruturas de Repetição</vt:lpstr>
      <vt:lpstr>Estruturas de Repetição</vt:lpstr>
      <vt:lpstr>Variáveis para Texto: String</vt:lpstr>
      <vt:lpstr>Concatenando Strings</vt:lpstr>
      <vt:lpstr>Concatenando Strings</vt:lpstr>
      <vt:lpstr>Entrada de Dados</vt:lpstr>
      <vt:lpstr>A Classe Scanner</vt:lpstr>
      <vt:lpstr>Scanner para ler Strings</vt:lpstr>
      <vt:lpstr>Números Formatados</vt:lpstr>
      <vt:lpstr>Números Formatados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BUSTAMANTE FERREIRA LEONOR</dc:creator>
  <cp:lastModifiedBy>WARNER BREZOLIN</cp:lastModifiedBy>
  <cp:revision>452</cp:revision>
  <dcterms:created xsi:type="dcterms:W3CDTF">2020-02-06T23:16:28Z</dcterms:created>
  <dcterms:modified xsi:type="dcterms:W3CDTF">2024-02-19T23:29:31Z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2019-03-22T00:00:00Z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2020-02-06T00:00:00Z</vt:filetime>
  </property>
</Properties>
</file>